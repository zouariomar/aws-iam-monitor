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FFA850-C012-4844-A729-C54FA730FC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177F78-7998-401A-9CD9-8D7B55AAB5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40486D-BFAA-46EC-9983-71B35A247B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1C26F2-DECA-46FC-AB05-F00550E8D6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BEDF5E-68D0-4053-B09E-6B255A0C32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5D37D9-91E5-4352-B9F7-73A03A62BE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8E9683-51F1-4C88-A337-048C64326E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0EF930-C11D-4346-BD67-F0BE3CAFA5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AAF632-0E5E-4631-B403-98F48D783A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D8D44-9EAE-4C58-8157-7F8972A358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C9B34A-D352-4845-AE10-1C88E50931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60" y="36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146160"/>
            <a:ext cx="12191400" cy="4536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4" name="Picture 4" descr="_full_t.png"/>
          <p:cNvPicPr/>
          <p:nvPr/>
        </p:nvPicPr>
        <p:blipFill>
          <a:blip r:embed="rId1"/>
          <a:stretch/>
        </p:blipFill>
        <p:spPr>
          <a:xfrm>
            <a:off x="3398400" y="1097280"/>
            <a:ext cx="5394600" cy="29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841320" y="370332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Audit AWS IAM en temps réel et détection automatisée des menaces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41320" y="4370760"/>
            <a:ext cx="1050876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Serverless   ·   piloté par les événements   ·   2 implémentations équivalentes (</a:t>
            </a:r>
            <a:r>
              <a:rPr lang="en-US" sz="13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Bash</a:t>
            </a:r>
            <a:r>
              <a:rPr lang="en-US" sz="13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 et </a:t>
            </a:r>
            <a:r>
              <a:rPr lang="en-US" sz="13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Terraform</a:t>
            </a:r>
            <a:r>
              <a:rPr lang="en-US" sz="13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841320" y="6291000"/>
            <a:ext cx="1050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Zouari Omar   ·   Cloud &amp; Sécurité   ·  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4724280" y="5833800"/>
            <a:ext cx="1151640" cy="4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"/>
          <p:cNvPicPr/>
          <p:nvPr/>
        </p:nvPicPr>
        <p:blipFill>
          <a:blip r:embed="rId3"/>
          <a:stretch/>
        </p:blipFill>
        <p:spPr>
          <a:xfrm>
            <a:off x="5995080" y="5833800"/>
            <a:ext cx="1472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20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04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06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SOMMAIRE</a:t>
            </a:r>
            <a:endParaRPr lang="en-US" sz="12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07" name="TextBox 208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Ce que couvre cette présentation</a:t>
            </a:r>
            <a:endParaRPr lang="en-US" sz="310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09" name="TextBox 210"/>
          <p:cNvSpPr/>
          <p:nvPr/>
        </p:nvSpPr>
        <p:spPr>
          <a:xfrm>
            <a:off x="841320" y="1783080"/>
            <a:ext cx="1050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Du risque à l'architecture, jusqu'au résultat validé.</a:t>
            </a:r>
            <a:endParaRPr lang="en-US" sz="150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11" name="Rounded Rectangle 212"/>
          <p:cNvSpPr/>
          <p:nvPr/>
        </p:nvSpPr>
        <p:spPr>
          <a:xfrm>
            <a:off x="841320" y="2529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214"/>
          <p:cNvSpPr/>
          <p:nvPr/>
        </p:nvSpPr>
        <p:spPr>
          <a:xfrm>
            <a:off x="988200" y="2660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216"/>
          <p:cNvSpPr/>
          <p:nvPr/>
        </p:nvSpPr>
        <p:spPr>
          <a:xfrm>
            <a:off x="988200" y="2660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17" name="TextBox 218"/>
          <p:cNvSpPr/>
          <p:nvPr/>
        </p:nvSpPr>
        <p:spPr>
          <a:xfrm>
            <a:off x="1583640" y="2622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Le problème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19" name="TextBox 220"/>
          <p:cNvSpPr/>
          <p:nvPr/>
        </p:nvSpPr>
        <p:spPr>
          <a:xfrm>
            <a:off x="1583640" y="2930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Pourquoi un seul changement IAM peut exposer le compte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21" name="Rounded Rectangle 222"/>
          <p:cNvSpPr/>
          <p:nvPr/>
        </p:nvSpPr>
        <p:spPr>
          <a:xfrm>
            <a:off x="841320" y="3431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ounded Rectangle 224"/>
          <p:cNvSpPr/>
          <p:nvPr/>
        </p:nvSpPr>
        <p:spPr>
          <a:xfrm>
            <a:off x="988200" y="3562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26"/>
          <p:cNvSpPr/>
          <p:nvPr/>
        </p:nvSpPr>
        <p:spPr>
          <a:xfrm>
            <a:off x="988200" y="3562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27" name="TextBox 228"/>
          <p:cNvSpPr/>
          <p:nvPr/>
        </p:nvSpPr>
        <p:spPr>
          <a:xfrm>
            <a:off x="1583640" y="3524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La solution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29" name="TextBox 230"/>
          <p:cNvSpPr/>
          <p:nvPr/>
        </p:nvSpPr>
        <p:spPr>
          <a:xfrm>
            <a:off x="1583640" y="3832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Supervision IAM continue et automatisée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31" name="Rounded Rectangle 232"/>
          <p:cNvSpPr/>
          <p:nvPr/>
        </p:nvSpPr>
        <p:spPr>
          <a:xfrm>
            <a:off x="841320" y="4333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ounded Rectangle 234"/>
          <p:cNvSpPr/>
          <p:nvPr/>
        </p:nvSpPr>
        <p:spPr>
          <a:xfrm>
            <a:off x="988200" y="4464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236"/>
          <p:cNvSpPr/>
          <p:nvPr/>
        </p:nvSpPr>
        <p:spPr>
          <a:xfrm>
            <a:off x="988200" y="4464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37" name="TextBox 238"/>
          <p:cNvSpPr/>
          <p:nvPr/>
        </p:nvSpPr>
        <p:spPr>
          <a:xfrm>
            <a:off x="1583640" y="4426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Architecture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39" name="TextBox 240"/>
          <p:cNvSpPr/>
          <p:nvPr/>
        </p:nvSpPr>
        <p:spPr>
          <a:xfrm>
            <a:off x="1583640" y="4734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Un pipeline serverless piloté par les événements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41" name="Rounded Rectangle 242"/>
          <p:cNvSpPr/>
          <p:nvPr/>
        </p:nvSpPr>
        <p:spPr>
          <a:xfrm>
            <a:off x="841320" y="5235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ounded Rectangle 244"/>
          <p:cNvSpPr/>
          <p:nvPr/>
        </p:nvSpPr>
        <p:spPr>
          <a:xfrm>
            <a:off x="988200" y="5366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246"/>
          <p:cNvSpPr/>
          <p:nvPr/>
        </p:nvSpPr>
        <p:spPr>
          <a:xfrm>
            <a:off x="988200" y="5366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47" name="TextBox 248"/>
          <p:cNvSpPr/>
          <p:nvPr/>
        </p:nvSpPr>
        <p:spPr>
          <a:xfrm>
            <a:off x="1583640" y="5328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Fonctionnement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49" name="TextBox 250"/>
          <p:cNvSpPr/>
          <p:nvPr/>
        </p:nvSpPr>
        <p:spPr>
          <a:xfrm>
            <a:off x="1583640" y="5636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Capturer, filtrer, analyser, agir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51" name="Rounded Rectangle 252"/>
          <p:cNvSpPr/>
          <p:nvPr/>
        </p:nvSpPr>
        <p:spPr>
          <a:xfrm>
            <a:off x="6318360" y="2529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254"/>
          <p:cNvSpPr/>
          <p:nvPr/>
        </p:nvSpPr>
        <p:spPr>
          <a:xfrm>
            <a:off x="6465240" y="2660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256"/>
          <p:cNvSpPr/>
          <p:nvPr/>
        </p:nvSpPr>
        <p:spPr>
          <a:xfrm>
            <a:off x="6465240" y="2660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57" name="TextBox 258"/>
          <p:cNvSpPr/>
          <p:nvPr/>
        </p:nvSpPr>
        <p:spPr>
          <a:xfrm>
            <a:off x="7060680" y="2622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Modèle de risque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59" name="TextBox 260"/>
          <p:cNvSpPr/>
          <p:nvPr/>
        </p:nvSpPr>
        <p:spPr>
          <a:xfrm>
            <a:off x="7060680" y="2930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Classement CRITICAL / HIGH / MEDIUM / LOW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61" name="Rounded Rectangle 262"/>
          <p:cNvSpPr/>
          <p:nvPr/>
        </p:nvSpPr>
        <p:spPr>
          <a:xfrm>
            <a:off x="6318360" y="3431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ounded Rectangle 264"/>
          <p:cNvSpPr/>
          <p:nvPr/>
        </p:nvSpPr>
        <p:spPr>
          <a:xfrm>
            <a:off x="6465240" y="3562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266"/>
          <p:cNvSpPr/>
          <p:nvPr/>
        </p:nvSpPr>
        <p:spPr>
          <a:xfrm>
            <a:off x="6465240" y="3562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67" name="TextBox 268"/>
          <p:cNvSpPr/>
          <p:nvPr/>
        </p:nvSpPr>
        <p:spPr>
          <a:xfrm>
            <a:off x="7060680" y="3524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Livraison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69" name="TextBox 270"/>
          <p:cNvSpPr/>
          <p:nvPr/>
        </p:nvSpPr>
        <p:spPr>
          <a:xfrm>
            <a:off x="7060680" y="3832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Bash et Terraform, fonctionnellement équivalents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71" name="Rounded Rectangle 272"/>
          <p:cNvSpPr/>
          <p:nvPr/>
        </p:nvSpPr>
        <p:spPr>
          <a:xfrm>
            <a:off x="6318360" y="4333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ounded Rectangle 274"/>
          <p:cNvSpPr/>
          <p:nvPr/>
        </p:nvSpPr>
        <p:spPr>
          <a:xfrm>
            <a:off x="6465240" y="4464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76"/>
          <p:cNvSpPr/>
          <p:nvPr/>
        </p:nvSpPr>
        <p:spPr>
          <a:xfrm>
            <a:off x="6465240" y="4464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77" name="TextBox 278"/>
          <p:cNvSpPr/>
          <p:nvPr/>
        </p:nvSpPr>
        <p:spPr>
          <a:xfrm>
            <a:off x="7060680" y="4426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Coût du projet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79" name="TextBox 280"/>
          <p:cNvSpPr/>
          <p:nvPr/>
        </p:nvSpPr>
        <p:spPr>
          <a:xfrm>
            <a:off x="7060680" y="4734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Tarifs à la demande standards, hors offre gratuite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81" name="Rounded Rectangle 282"/>
          <p:cNvSpPr/>
          <p:nvPr/>
        </p:nvSpPr>
        <p:spPr>
          <a:xfrm>
            <a:off x="6318360" y="5235840"/>
            <a:ext cx="50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ounded Rectangle 284"/>
          <p:cNvSpPr/>
          <p:nvPr/>
        </p:nvSpPr>
        <p:spPr>
          <a:xfrm>
            <a:off x="6465240" y="5366160"/>
            <a:ext cx="470880" cy="470880"/>
          </a:xfrm>
          <a:prstGeom prst="roundRect">
            <a:avLst>
              <a:gd name="adj" fmla="val 24000"/>
            </a:avLst>
          </a:prstGeom>
          <a:solidFill>
            <a:srgbClr val="14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286"/>
          <p:cNvSpPr/>
          <p:nvPr/>
        </p:nvSpPr>
        <p:spPr>
          <a:xfrm>
            <a:off x="6465240" y="5366160"/>
            <a:ext cx="47088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Segoe UI"/>
            </a:endParaRPr>
          </a:p>
        </p:txBody>
      </p:sp>
      <p:sp>
        <p:nvSpPr>
          <p:cNvPr id="287" name="TextBox 288"/>
          <p:cNvSpPr/>
          <p:nvPr/>
        </p:nvSpPr>
        <p:spPr>
          <a:xfrm>
            <a:off x="7060680" y="5328720"/>
            <a:ext cx="414288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Résultats</a:t>
            </a:r>
            <a:endParaRPr lang="en-US" sz="1450" b="0" u="none" strike="noStrike">
              <a:solidFill>
                <a:srgbClr val="14325A"/>
              </a:solidFill>
              <a:effectLst/>
              <a:uFillTx/>
              <a:latin typeface="Segoe UI"/>
            </a:endParaRPr>
          </a:p>
        </p:txBody>
      </p:sp>
      <p:sp>
        <p:nvSpPr>
          <p:cNvPr id="289" name="TextBox 290"/>
          <p:cNvSpPr/>
          <p:nvPr/>
        </p:nvSpPr>
        <p:spPr>
          <a:xfrm>
            <a:off x="7060680" y="5636160"/>
            <a:ext cx="4142880" cy="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Validé de bout en bout sur les deux implémentations</a:t>
            </a:r>
            <a:endParaRPr lang="en-US" sz="1050" b="0" u="none" strike="noStrike">
              <a:solidFill>
                <a:srgbClr val="546070"/>
              </a:solidFill>
              <a:effectLst/>
              <a:uFillTx/>
              <a:latin typeface="Segoe UI"/>
            </a:endParaRPr>
          </a:p>
        </p:txBody>
      </p:sp>
      <p:sp>
        <p:nvSpPr>
          <p:cNvPr id="291" name="TextBox 292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l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A6B0BC"/>
              </a:solidFill>
              <a:effectLst/>
              <a:uFillTx/>
              <a:latin typeface="Segoe UI"/>
            </a:endParaRPr>
          </a:p>
        </p:txBody>
      </p:sp>
      <p:sp>
        <p:nvSpPr>
          <p:cNvPr id="293" name="TextBox 294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01 / 10</a:t>
            </a:r>
            <a:endParaRPr lang="en-US" sz="1000" b="0" u="none" strike="noStrike">
              <a:solidFill>
                <a:srgbClr val="A6B0BC"/>
              </a:solidFill>
              <a:effectLst/>
              <a:uFillTx/>
              <a:latin typeface="Segoe U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LE PROBLÈME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Un mauvais changement IAM ouvre tout le compte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841320" y="1783080"/>
            <a:ext cx="1050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Pas un bug de code — une erreur de permissions. Plus difficile à repérer, et rarement contrôlée en temps réel.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841320" y="2651760"/>
            <a:ext cx="3319920" cy="2468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859680" y="2797920"/>
            <a:ext cx="63720" cy="2175840"/>
          </a:xfrm>
          <a:prstGeom prst="rect">
            <a:avLst/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10972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Identité dérobée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1097280" y="3328560"/>
            <a:ext cx="2881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Un nouvel utilisateur ou une clé d'accès créés sans validation — un accès discret et persistant.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1" name="Rounded Rectangle 10"/>
          <p:cNvSpPr/>
          <p:nvPr/>
        </p:nvSpPr>
        <p:spPr>
          <a:xfrm>
            <a:off x="4435920" y="2651760"/>
            <a:ext cx="3319920" cy="2468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1"/>
          <p:cNvSpPr/>
          <p:nvPr/>
        </p:nvSpPr>
        <p:spPr>
          <a:xfrm>
            <a:off x="4453920" y="2797920"/>
            <a:ext cx="63720" cy="217584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46918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Élévation de privilèges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4691880" y="3328560"/>
            <a:ext cx="2881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Une politique trop permissive attachée à un utilisateur, un groupe ou un rôle.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8030160" y="2651760"/>
            <a:ext cx="3319920" cy="2468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15"/>
          <p:cNvSpPr/>
          <p:nvPr/>
        </p:nvSpPr>
        <p:spPr>
          <a:xfrm>
            <a:off x="8048520" y="2797920"/>
            <a:ext cx="63720" cy="2175840"/>
          </a:xfrm>
          <a:prstGeom prst="rect">
            <a:avLst/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828612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Contrôles affaiblis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8286120" y="3328560"/>
            <a:ext cx="2881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MFA désactivé, ou une politique de sécurité supprimée, sur un compte privilégié.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9" name="Rounded Rectangle 18"/>
          <p:cNvSpPr/>
          <p:nvPr/>
        </p:nvSpPr>
        <p:spPr>
          <a:xfrm>
            <a:off x="841320" y="5486400"/>
            <a:ext cx="10508760" cy="731160"/>
          </a:xfrm>
          <a:prstGeom prst="roundRect">
            <a:avLst>
              <a:gd name="adj" fmla="val 14000"/>
            </a:avLst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41320" y="548640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Le besoin :   automatisé   ·   quasi temps réel   ·   faible coût   ·   traçable   ·   reproductible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02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LA SOLUTION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aws-iam-monitor — supervision IAM continue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841320" y="1783080"/>
            <a:ext cx="1050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Chaque appel d'API IAM sensible est capturé, évalué en risque, archivé et — quand cela compte — signalé.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841320" y="2651760"/>
            <a:ext cx="3319920" cy="2331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859680" y="2797920"/>
            <a:ext cx="63720" cy="2038680"/>
          </a:xfrm>
          <a:prstGeom prst="rect">
            <a:avLst/>
          </a:prstGeom>
          <a:solidFill>
            <a:srgbClr val="0E7C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10972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Des secondes, pas des jours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1097280" y="3328560"/>
            <a:ext cx="2881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Le pipeline événementiel réagit quelques secondes après l'appel d'API.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4435920" y="2651760"/>
            <a:ext cx="3319920" cy="2331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1"/>
          <p:cNvSpPr/>
          <p:nvPr/>
        </p:nvSpPr>
        <p:spPr>
          <a:xfrm>
            <a:off x="4453920" y="2797920"/>
            <a:ext cx="63720" cy="20386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469188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Classement automatique du risque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4691880" y="3328560"/>
            <a:ext cx="2881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Chaque appel étiqueté CRITICAL / HIGH / MEDIUM / LOW, avec un contrôle de l'IP source.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6" name="Rounded Rectangle 14"/>
          <p:cNvSpPr/>
          <p:nvPr/>
        </p:nvSpPr>
        <p:spPr>
          <a:xfrm>
            <a:off x="8030160" y="2651760"/>
            <a:ext cx="3319920" cy="2331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5"/>
          <p:cNvSpPr/>
          <p:nvPr/>
        </p:nvSpPr>
        <p:spPr>
          <a:xfrm>
            <a:off x="8048520" y="2797920"/>
            <a:ext cx="63720" cy="203868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8286120" y="2853000"/>
            <a:ext cx="2926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Rien à exploiter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8286120" y="3328560"/>
            <a:ext cx="28810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3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100 % de services managés AWS — aucun serveur, facturation à l'événement.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0" name="Rounded Rectangle 18"/>
          <p:cNvSpPr/>
          <p:nvPr/>
        </p:nvSpPr>
        <p:spPr>
          <a:xfrm>
            <a:off x="841320" y="5440680"/>
            <a:ext cx="10508760" cy="776880"/>
          </a:xfrm>
          <a:prstGeom prst="roundRect">
            <a:avLst>
              <a:gd name="adj" fmla="val 14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841320" y="5440680"/>
            <a:ext cx="10508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IAM   →   CloudTrail   →   EventBridge   →   Lambda   →   SNS · S3 · CloudWatch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2" name="TextBox 20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3" name="TextBox 21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03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E24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ARCHITECTURE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Un pipeline piloté par les événements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8" name="Rounded Rectangle 5"/>
          <p:cNvSpPr/>
          <p:nvPr/>
        </p:nvSpPr>
        <p:spPr>
          <a:xfrm>
            <a:off x="3919680" y="1517760"/>
            <a:ext cx="4352040" cy="435204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 w="15875">
            <a:solidFill>
              <a:srgbClr val="2C3E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6" descr="aws-iam-monitor-architecture-diagram.png"/>
          <p:cNvPicPr/>
          <p:nvPr/>
        </p:nvPicPr>
        <p:blipFill>
          <a:blip r:embed="rId1"/>
          <a:stretch/>
        </p:blipFill>
        <p:spPr>
          <a:xfrm>
            <a:off x="4038480" y="1636920"/>
            <a:ext cx="41144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7"/>
          <p:cNvSpPr/>
          <p:nvPr/>
        </p:nvSpPr>
        <p:spPr>
          <a:xfrm>
            <a:off x="841320" y="6126480"/>
            <a:ext cx="1050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Provisionné à l'identique par les deux implémentations   ·   région us-east-1   ·   une seule zone de disponibilité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1" name="TextBox 8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C9DB0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C9DB0"/>
                </a:solidFill>
                <a:effectLst/>
                <a:uFillTx/>
                <a:latin typeface="Segoe UI"/>
              </a:rPr>
              <a:t>04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FONCTIONNEMENT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Quatre étapes, entièrement automatisées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84132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859680" y="2432160"/>
            <a:ext cx="63720" cy="249588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109728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1  Capturer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109728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CloudTrail enregistre chaque appel d'API de gestion IAM sur le compte.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3235320" y="34520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2" name="Rounded Rectangle 10"/>
          <p:cNvSpPr/>
          <p:nvPr/>
        </p:nvSpPr>
        <p:spPr>
          <a:xfrm>
            <a:off x="353700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1"/>
          <p:cNvSpPr/>
          <p:nvPr/>
        </p:nvSpPr>
        <p:spPr>
          <a:xfrm>
            <a:off x="3555360" y="2432160"/>
            <a:ext cx="63720" cy="2495880"/>
          </a:xfrm>
          <a:prstGeom prst="rect">
            <a:avLst/>
          </a:prstGeom>
          <a:solidFill>
            <a:srgbClr val="0E7C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379332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2  Filtrer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379332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EventBridge filtre les événements iam.amazonaws.com et déclenche Lambda.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5931360" y="34520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7" name="Rounded Rectangle 15"/>
          <p:cNvSpPr/>
          <p:nvPr/>
        </p:nvSpPr>
        <p:spPr>
          <a:xfrm>
            <a:off x="623304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16"/>
          <p:cNvSpPr/>
          <p:nvPr/>
        </p:nvSpPr>
        <p:spPr>
          <a:xfrm>
            <a:off x="6251400" y="2432160"/>
            <a:ext cx="63720" cy="24958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648900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3  Analyser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0" name="TextBox 18"/>
          <p:cNvSpPr/>
          <p:nvPr/>
        </p:nvSpPr>
        <p:spPr>
          <a:xfrm>
            <a:off x="648900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Lambda analyse la charge utile, vérifie l'IP source, classe le risque.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1" name="TextBox 19"/>
          <p:cNvSpPr/>
          <p:nvPr/>
        </p:nvSpPr>
        <p:spPr>
          <a:xfrm>
            <a:off x="8627040" y="3452040"/>
            <a:ext cx="3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2" name="Rounded Rectangle 20"/>
          <p:cNvSpPr/>
          <p:nvPr/>
        </p:nvSpPr>
        <p:spPr>
          <a:xfrm>
            <a:off x="8928720" y="2286000"/>
            <a:ext cx="2421360" cy="2788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1"/>
          <p:cNvSpPr/>
          <p:nvPr/>
        </p:nvSpPr>
        <p:spPr>
          <a:xfrm>
            <a:off x="8947080" y="2432160"/>
            <a:ext cx="63720" cy="249588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2"/>
          <p:cNvSpPr/>
          <p:nvPr/>
        </p:nvSpPr>
        <p:spPr>
          <a:xfrm>
            <a:off x="9185040" y="2487240"/>
            <a:ext cx="202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4  Agir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5" name="TextBox 23"/>
          <p:cNvSpPr/>
          <p:nvPr/>
        </p:nvSpPr>
        <p:spPr>
          <a:xfrm>
            <a:off x="9185040" y="2962800"/>
            <a:ext cx="198216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</a:pPr>
            <a:r>
              <a:rPr lang="en-US" sz="12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Archive le JSON dans S3 · alerte via SNS si risque élevé · émet des métriques CloudWatch.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6" name="Rounded Rectangle 24"/>
          <p:cNvSpPr/>
          <p:nvPr/>
        </p:nvSpPr>
        <p:spPr>
          <a:xfrm>
            <a:off x="841320" y="5486400"/>
            <a:ext cx="10508760" cy="731160"/>
          </a:xfrm>
          <a:prstGeom prst="roundRect">
            <a:avLst>
              <a:gd name="adj" fmla="val 14000"/>
            </a:avLst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5"/>
          <p:cNvSpPr/>
          <p:nvPr/>
        </p:nvSpPr>
        <p:spPr>
          <a:xfrm>
            <a:off x="841320" y="548640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Handler Python 3.11 partagé   ·   logique de détection identique dans les deux implémentations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8" name="TextBox 26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9" name="TextBox 27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05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MODÈLE DE RISQUE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Chaque appel IAM reçoit un niveau de gravité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841320" y="210312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6"/>
          <p:cNvSpPr/>
          <p:nvPr/>
        </p:nvSpPr>
        <p:spPr>
          <a:xfrm>
            <a:off x="841320" y="210312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841320" y="210312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CRITICAL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3264480" y="210312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DeletePolicy · DeactivateMFADevice · accès depuis une IP hors liste blanche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58" name="Rounded Rectangle 9"/>
          <p:cNvSpPr/>
          <p:nvPr/>
        </p:nvSpPr>
        <p:spPr>
          <a:xfrm>
            <a:off x="841320" y="303588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0"/>
          <p:cNvSpPr/>
          <p:nvPr/>
        </p:nvSpPr>
        <p:spPr>
          <a:xfrm>
            <a:off x="841320" y="303588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841320" y="303588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HIGH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3264480" y="303588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CreateUser · CreateAccessKey · AttachUserPolicy · UpdateLoginProfile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2" name="Rounded Rectangle 13"/>
          <p:cNvSpPr/>
          <p:nvPr/>
        </p:nvSpPr>
        <p:spPr>
          <a:xfrm>
            <a:off x="841320" y="396864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14"/>
          <p:cNvSpPr/>
          <p:nvPr/>
        </p:nvSpPr>
        <p:spPr>
          <a:xfrm>
            <a:off x="841320" y="396864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C99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841320" y="396864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MEDIUM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3264480" y="396864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CreateRole · CreateGroup · CreatePolicy · SetDefaultPolicyVersion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6" name="Rounded Rectangle 17"/>
          <p:cNvSpPr/>
          <p:nvPr/>
        </p:nvSpPr>
        <p:spPr>
          <a:xfrm>
            <a:off x="841320" y="4901040"/>
            <a:ext cx="10508760" cy="7495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841320" y="4901040"/>
            <a:ext cx="2102760" cy="74952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841320" y="4901040"/>
            <a:ext cx="2102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LOW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3264480" y="4901040"/>
            <a:ext cx="78570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GetUser · ListUsers — informatif, seulement archivé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841320" y="5888880"/>
            <a:ext cx="1050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HIGH &amp; CRITICAL  →  alerte e-mail SNS immédiate.      Tous niveaux  →  enregistrement d'audit JSON dans S3.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06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LIVRAISON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841320" y="841320"/>
            <a:ext cx="105087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Même architecture — choisissez votre méthode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77" name="Rounded Rectangle 5"/>
          <p:cNvSpPr/>
          <p:nvPr/>
        </p:nvSpPr>
        <p:spPr>
          <a:xfrm>
            <a:off x="841320" y="2148840"/>
            <a:ext cx="5025600" cy="3382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841320" y="2148840"/>
            <a:ext cx="5025600" cy="658080"/>
          </a:xfrm>
          <a:prstGeom prst="roundRect">
            <a:avLst>
              <a:gd name="adj" fmla="val 45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7"/>
          <p:cNvSpPr/>
          <p:nvPr/>
        </p:nvSpPr>
        <p:spPr>
          <a:xfrm>
            <a:off x="841320" y="2477880"/>
            <a:ext cx="5025600" cy="328680"/>
          </a:xfrm>
          <a:prstGeom prst="rect">
            <a:avLst/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841320" y="2148840"/>
            <a:ext cx="5025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Bash  /  AWS CLI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1188720" y="3108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Un seul orchestrateur :  ./awsctl --up 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1188720" y="3675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Impératif, séquence explicite en 5 étapes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1188720" y="4242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Scripts idempotents + bibliothèque d'aide partagée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1188720" y="480960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Simple pour de petits changements ciblés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5" name="Rounded Rectangle 13"/>
          <p:cNvSpPr/>
          <p:nvPr/>
        </p:nvSpPr>
        <p:spPr>
          <a:xfrm>
            <a:off x="6324480" y="2148840"/>
            <a:ext cx="5025600" cy="3382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ounded Rectangle 14"/>
          <p:cNvSpPr/>
          <p:nvPr/>
        </p:nvSpPr>
        <p:spPr>
          <a:xfrm>
            <a:off x="6324480" y="2148840"/>
            <a:ext cx="5025600" cy="658080"/>
          </a:xfrm>
          <a:prstGeom prst="roundRect">
            <a:avLst>
              <a:gd name="adj" fmla="val 4500"/>
            </a:avLst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5"/>
          <p:cNvSpPr/>
          <p:nvPr/>
        </p:nvSpPr>
        <p:spPr>
          <a:xfrm>
            <a:off x="6324480" y="2477880"/>
            <a:ext cx="5025600" cy="3286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6324480" y="2148840"/>
            <a:ext cx="5025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Terraform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9" name="TextBox 17"/>
          <p:cNvSpPr/>
          <p:nvPr/>
        </p:nvSpPr>
        <p:spPr>
          <a:xfrm>
            <a:off x="6671880" y="3108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Une seule commande :  terraform apply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0" name="TextBox 18"/>
          <p:cNvSpPr/>
          <p:nvPr/>
        </p:nvSpPr>
        <p:spPr>
          <a:xfrm>
            <a:off x="6671880" y="3675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Déclaratif, ordre déduit du graphe de dépendances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1" name="TextBox 19"/>
          <p:cNvSpPr/>
          <p:nvPr/>
        </p:nvSpPr>
        <p:spPr>
          <a:xfrm>
            <a:off x="6671880" y="424296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7 modules réutilisables, IAM au moindre privilège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2" name="TextBox 20"/>
          <p:cNvSpPr/>
          <p:nvPr/>
        </p:nvSpPr>
        <p:spPr>
          <a:xfrm>
            <a:off x="6671880" y="4809600"/>
            <a:ext cx="4385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•   Ajoute des alarmes CloudWatch optionnelles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3" name="TextBox 21"/>
          <p:cNvSpPr/>
          <p:nvPr/>
        </p:nvSpPr>
        <p:spPr>
          <a:xfrm>
            <a:off x="841320" y="5788080"/>
            <a:ext cx="1050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Indépendantes et fonctionnellement équivalentes — mêmes noms de ressources, même motif d'événement, mêmes politiques.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4" name="TextBox 22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5" name="TextBox 23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07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COÛT DU PROJET  ·  CALCULATOR.AWS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Quelques dollars par mois, au tarif standard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0" name="Rounded Rectangle 5"/>
          <p:cNvSpPr/>
          <p:nvPr/>
        </p:nvSpPr>
        <p:spPr>
          <a:xfrm>
            <a:off x="841320" y="1965960"/>
            <a:ext cx="7040520" cy="420120"/>
          </a:xfrm>
          <a:prstGeom prst="roundRect">
            <a:avLst>
              <a:gd name="adj" fmla="val 12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1115640" y="1965960"/>
            <a:ext cx="4388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Service AWS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6053400" y="1965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Est. / mois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841320" y="238644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1115640" y="238644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CloudTrail — 50k événements de gestion IAM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6053400" y="23864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1,00 $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6" name="Rectangle 11"/>
          <p:cNvSpPr/>
          <p:nvPr/>
        </p:nvSpPr>
        <p:spPr>
          <a:xfrm>
            <a:off x="841320" y="2807280"/>
            <a:ext cx="7040520" cy="420120"/>
          </a:xfrm>
          <a:prstGeom prst="rect">
            <a:avLst/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2"/>
          <p:cNvSpPr/>
          <p:nvPr/>
        </p:nvSpPr>
        <p:spPr>
          <a:xfrm>
            <a:off x="1115640" y="280728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EventBridge — événements AWS, bus par défaut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8" name="TextBox 13"/>
          <p:cNvSpPr/>
          <p:nvPr/>
        </p:nvSpPr>
        <p:spPr>
          <a:xfrm>
            <a:off x="6053400" y="28072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0,00 $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09" name="Rectangle 14"/>
          <p:cNvSpPr/>
          <p:nvPr/>
        </p:nvSpPr>
        <p:spPr>
          <a:xfrm>
            <a:off x="841320" y="322776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1115640" y="322776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Lambda — ~50k appels · 128 Mo · ~400 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6053400" y="32277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0,05 $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2" name="Rectangle 17"/>
          <p:cNvSpPr/>
          <p:nvPr/>
        </p:nvSpPr>
        <p:spPr>
          <a:xfrm>
            <a:off x="841320" y="3648600"/>
            <a:ext cx="7040520" cy="420120"/>
          </a:xfrm>
          <a:prstGeom prst="rect">
            <a:avLst/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8"/>
          <p:cNvSpPr/>
          <p:nvPr/>
        </p:nvSpPr>
        <p:spPr>
          <a:xfrm>
            <a:off x="1115640" y="364860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SNS — 50k publications + ~500 alertes e-mail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4" name="TextBox 19"/>
          <p:cNvSpPr/>
          <p:nvPr/>
        </p:nvSpPr>
        <p:spPr>
          <a:xfrm>
            <a:off x="6053400" y="36486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0,04 $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5" name="Rectangle 20"/>
          <p:cNvSpPr/>
          <p:nvPr/>
        </p:nvSpPr>
        <p:spPr>
          <a:xfrm>
            <a:off x="841320" y="406908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1"/>
          <p:cNvSpPr/>
          <p:nvPr/>
        </p:nvSpPr>
        <p:spPr>
          <a:xfrm>
            <a:off x="1115640" y="406908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S3 — ~10 Go stockage · ~55k PUT + GET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7" name="TextBox 22"/>
          <p:cNvSpPr/>
          <p:nvPr/>
        </p:nvSpPr>
        <p:spPr>
          <a:xfrm>
            <a:off x="6053400" y="40690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0,51 $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18" name="Rectangle 23"/>
          <p:cNvSpPr/>
          <p:nvPr/>
        </p:nvSpPr>
        <p:spPr>
          <a:xfrm>
            <a:off x="841320" y="4489560"/>
            <a:ext cx="7040520" cy="420120"/>
          </a:xfrm>
          <a:prstGeom prst="rect">
            <a:avLst/>
          </a:prstGeom>
          <a:solidFill>
            <a:srgbClr val="EAF0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4"/>
          <p:cNvSpPr/>
          <p:nvPr/>
        </p:nvSpPr>
        <p:spPr>
          <a:xfrm>
            <a:off x="1115640" y="448956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CloudWatch — 3 métriques · 2 alarmes · 50k puts · logs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0" name="TextBox 25"/>
          <p:cNvSpPr/>
          <p:nvPr/>
        </p:nvSpPr>
        <p:spPr>
          <a:xfrm>
            <a:off x="6053400" y="44895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2,13 $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1" name="Rectangle 26"/>
          <p:cNvSpPr/>
          <p:nvPr/>
        </p:nvSpPr>
        <p:spPr>
          <a:xfrm>
            <a:off x="841320" y="4910400"/>
            <a:ext cx="7040520" cy="42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7"/>
          <p:cNvSpPr/>
          <p:nvPr/>
        </p:nvSpPr>
        <p:spPr>
          <a:xfrm>
            <a:off x="1115640" y="4910400"/>
            <a:ext cx="5120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Transfert de données — intra-région / minimal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3" name="TextBox 28"/>
          <p:cNvSpPr/>
          <p:nvPr/>
        </p:nvSpPr>
        <p:spPr>
          <a:xfrm>
            <a:off x="6053400" y="49104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0,09 $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4" name="Rectangle 29"/>
          <p:cNvSpPr/>
          <p:nvPr/>
        </p:nvSpPr>
        <p:spPr>
          <a:xfrm>
            <a:off x="841320" y="5330880"/>
            <a:ext cx="7040520" cy="420120"/>
          </a:xfrm>
          <a:prstGeom prst="rect">
            <a:avLst/>
          </a:prstGeom>
          <a:solidFill>
            <a:srgbClr val="DDE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30"/>
          <p:cNvSpPr/>
          <p:nvPr/>
        </p:nvSpPr>
        <p:spPr>
          <a:xfrm>
            <a:off x="1115640" y="5330880"/>
            <a:ext cx="4388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Total estimé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6" name="TextBox 31"/>
          <p:cNvSpPr/>
          <p:nvPr/>
        </p:nvSpPr>
        <p:spPr>
          <a:xfrm>
            <a:off x="6053400" y="53308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≈ 3,82 $ / mois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7" name="Rounded Rectangle 32"/>
          <p:cNvSpPr/>
          <p:nvPr/>
        </p:nvSpPr>
        <p:spPr>
          <a:xfrm>
            <a:off x="8339400" y="1965960"/>
            <a:ext cx="3010680" cy="1554120"/>
          </a:xfrm>
          <a:prstGeom prst="roundRect">
            <a:avLst>
              <a:gd name="adj" fmla="val 10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33"/>
          <p:cNvSpPr/>
          <p:nvPr/>
        </p:nvSpPr>
        <p:spPr>
          <a:xfrm>
            <a:off x="8339400" y="2112120"/>
            <a:ext cx="3010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≈ 4 $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9" name="TextBox 34"/>
          <p:cNvSpPr/>
          <p:nvPr/>
        </p:nvSpPr>
        <p:spPr>
          <a:xfrm>
            <a:off x="8339400" y="2990160"/>
            <a:ext cx="301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par mois   (~46 $ / an)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0" name="Rounded Rectangle 35"/>
          <p:cNvSpPr/>
          <p:nvPr/>
        </p:nvSpPr>
        <p:spPr>
          <a:xfrm>
            <a:off x="8339400" y="3749040"/>
            <a:ext cx="3010680" cy="60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36"/>
          <p:cNvSpPr/>
          <p:nvPr/>
        </p:nvSpPr>
        <p:spPr>
          <a:xfrm>
            <a:off x="8357760" y="3867840"/>
            <a:ext cx="54360" cy="36540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7"/>
          <p:cNvSpPr/>
          <p:nvPr/>
        </p:nvSpPr>
        <p:spPr>
          <a:xfrm>
            <a:off x="8558640" y="3749040"/>
            <a:ext cx="1279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Léger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3" name="TextBox 38"/>
          <p:cNvSpPr/>
          <p:nvPr/>
        </p:nvSpPr>
        <p:spPr>
          <a:xfrm>
            <a:off x="9665280" y="3749040"/>
            <a:ext cx="914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5k / mois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4" name="TextBox 39"/>
          <p:cNvSpPr/>
          <p:nvPr/>
        </p:nvSpPr>
        <p:spPr>
          <a:xfrm>
            <a:off x="10436040" y="3749040"/>
            <a:ext cx="776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≈ 2 $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5" name="Rounded Rectangle 40"/>
          <p:cNvSpPr/>
          <p:nvPr/>
        </p:nvSpPr>
        <p:spPr>
          <a:xfrm>
            <a:off x="8339400" y="4462200"/>
            <a:ext cx="3010680" cy="60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ectangle 41"/>
          <p:cNvSpPr/>
          <p:nvPr/>
        </p:nvSpPr>
        <p:spPr>
          <a:xfrm>
            <a:off x="8357760" y="4581000"/>
            <a:ext cx="54360" cy="36540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42"/>
          <p:cNvSpPr/>
          <p:nvPr/>
        </p:nvSpPr>
        <p:spPr>
          <a:xfrm>
            <a:off x="8558640" y="4462200"/>
            <a:ext cx="1279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Modéré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8" name="TextBox 43"/>
          <p:cNvSpPr/>
          <p:nvPr/>
        </p:nvSpPr>
        <p:spPr>
          <a:xfrm>
            <a:off x="9665280" y="4462200"/>
            <a:ext cx="914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50k / mois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39" name="TextBox 44"/>
          <p:cNvSpPr/>
          <p:nvPr/>
        </p:nvSpPr>
        <p:spPr>
          <a:xfrm>
            <a:off x="10436040" y="4462200"/>
            <a:ext cx="776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≈ 4 $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0" name="Rounded Rectangle 45"/>
          <p:cNvSpPr/>
          <p:nvPr/>
        </p:nvSpPr>
        <p:spPr>
          <a:xfrm>
            <a:off x="8339400" y="5175360"/>
            <a:ext cx="3010680" cy="60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ectangle 46"/>
          <p:cNvSpPr/>
          <p:nvPr/>
        </p:nvSpPr>
        <p:spPr>
          <a:xfrm>
            <a:off x="8357760" y="5294520"/>
            <a:ext cx="54360" cy="365400"/>
          </a:xfrm>
          <a:prstGeom prst="rect">
            <a:avLst/>
          </a:prstGeom>
          <a:solidFill>
            <a:srgbClr val="B326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47"/>
          <p:cNvSpPr/>
          <p:nvPr/>
        </p:nvSpPr>
        <p:spPr>
          <a:xfrm>
            <a:off x="8558640" y="5175360"/>
            <a:ext cx="1279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Intense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3" name="TextBox 48"/>
          <p:cNvSpPr/>
          <p:nvPr/>
        </p:nvSpPr>
        <p:spPr>
          <a:xfrm>
            <a:off x="9665280" y="5175360"/>
            <a:ext cx="914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500k / mois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4" name="TextBox 49"/>
          <p:cNvSpPr/>
          <p:nvPr/>
        </p:nvSpPr>
        <p:spPr>
          <a:xfrm>
            <a:off x="10436040" y="5175360"/>
            <a:ext cx="776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≈ 24 $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5" name="TextBox 50"/>
          <p:cNvSpPr/>
          <p:nvPr/>
        </p:nvSpPr>
        <p:spPr>
          <a:xfrm>
            <a:off x="841320" y="6108120"/>
            <a:ext cx="105087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Estimé avec l'AWS Pricing Calculator (calculator.aws)  ·  Région : US East (Virginie du Nord)  ·  Tarifs à la demande standards, offre gratuite AWS non appliquée.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6" name="TextBox 51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47" name="TextBox 52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08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2"/>
          <p:cNvSpPr/>
          <p:nvPr/>
        </p:nvSpPr>
        <p:spPr>
          <a:xfrm>
            <a:off x="841320" y="567000"/>
            <a:ext cx="310680" cy="8208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1298520" y="4572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RÉSULTATS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841320" y="841320"/>
            <a:ext cx="1050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325A"/>
                </a:solidFill>
                <a:effectLst/>
                <a:uFillTx/>
                <a:latin typeface="Segoe UI"/>
              </a:rPr>
              <a:t>Validé de bout en bout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2" name="Rounded Rectangle 5"/>
          <p:cNvSpPr/>
          <p:nvPr/>
        </p:nvSpPr>
        <p:spPr>
          <a:xfrm>
            <a:off x="841320" y="210312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Oval 6"/>
          <p:cNvSpPr/>
          <p:nvPr/>
        </p:nvSpPr>
        <p:spPr>
          <a:xfrm>
            <a:off x="1024200" y="224928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1024200" y="2240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5" name="TextBox 8"/>
          <p:cNvSpPr/>
          <p:nvPr/>
        </p:nvSpPr>
        <p:spPr>
          <a:xfrm>
            <a:off x="1572840" y="210312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Cycle complet déploiement → vérification → destruction validé sur les deux implémentations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6" name="Rounded Rectangle 9"/>
          <p:cNvSpPr/>
          <p:nvPr/>
        </p:nvSpPr>
        <p:spPr>
          <a:xfrm>
            <a:off x="841320" y="288936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10"/>
          <p:cNvSpPr/>
          <p:nvPr/>
        </p:nvSpPr>
        <p:spPr>
          <a:xfrm>
            <a:off x="1024200" y="303588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1024200" y="30265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59" name="TextBox 12"/>
          <p:cNvSpPr/>
          <p:nvPr/>
        </p:nvSpPr>
        <p:spPr>
          <a:xfrm>
            <a:off x="1572840" y="288936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Les événements IAM à risque élevé déclenchent des alertes e-mail SNS en quelques secondes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0" name="Rounded Rectangle 13"/>
          <p:cNvSpPr/>
          <p:nvPr/>
        </p:nvSpPr>
        <p:spPr>
          <a:xfrm>
            <a:off x="841320" y="367596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Oval 14"/>
          <p:cNvSpPr/>
          <p:nvPr/>
        </p:nvSpPr>
        <p:spPr>
          <a:xfrm>
            <a:off x="1024200" y="382212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1024200" y="3813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3" name="TextBox 16"/>
          <p:cNvSpPr/>
          <p:nvPr/>
        </p:nvSpPr>
        <p:spPr>
          <a:xfrm>
            <a:off x="1572840" y="367596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Chaque événement archivé en JSON structuré dans S3, partitionné par date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4" name="Rounded Rectangle 17"/>
          <p:cNvSpPr/>
          <p:nvPr/>
        </p:nvSpPr>
        <p:spPr>
          <a:xfrm>
            <a:off x="841320" y="4462200"/>
            <a:ext cx="6309000" cy="6580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Oval 18"/>
          <p:cNvSpPr/>
          <p:nvPr/>
        </p:nvSpPr>
        <p:spPr>
          <a:xfrm>
            <a:off x="1024200" y="4608720"/>
            <a:ext cx="365400" cy="365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9"/>
          <p:cNvSpPr/>
          <p:nvPr/>
        </p:nvSpPr>
        <p:spPr>
          <a:xfrm>
            <a:off x="1024200" y="4599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7" name="TextBox 20"/>
          <p:cNvSpPr/>
          <p:nvPr/>
        </p:nvSpPr>
        <p:spPr>
          <a:xfrm>
            <a:off x="1572840" y="4462200"/>
            <a:ext cx="5394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1E242B"/>
                </a:solidFill>
                <a:effectLst/>
                <a:uFillTx/>
                <a:latin typeface="Segoe UI"/>
              </a:rPr>
              <a:t>Métriques AWSIAMMonitor personnalisées + alarmes sur les accès IP non autorisés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68" name="Rounded Rectangle 21"/>
          <p:cNvSpPr/>
          <p:nvPr/>
        </p:nvSpPr>
        <p:spPr>
          <a:xfrm>
            <a:off x="7470720" y="2011680"/>
            <a:ext cx="3611520" cy="329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9" name="Picture 22" descr="hight-risk-aws-iam-security-alert-create-user.png"/>
          <p:cNvPicPr/>
          <p:nvPr/>
        </p:nvPicPr>
        <p:blipFill>
          <a:blip r:embed="rId1"/>
          <a:stretch/>
        </p:blipFill>
        <p:spPr>
          <a:xfrm>
            <a:off x="7562160" y="2103120"/>
            <a:ext cx="342468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23"/>
          <p:cNvSpPr/>
          <p:nvPr/>
        </p:nvSpPr>
        <p:spPr>
          <a:xfrm>
            <a:off x="7470720" y="5358240"/>
            <a:ext cx="36115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46070"/>
                </a:solidFill>
                <a:effectLst/>
                <a:uFillTx/>
                <a:latin typeface="Segoe UI"/>
              </a:rPr>
              <a:t>Alerte SNS — CreateUser classé HIGH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1" name="TextBox 24"/>
          <p:cNvSpPr/>
          <p:nvPr/>
        </p:nvSpPr>
        <p:spPr>
          <a:xfrm>
            <a:off x="841320" y="6400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aws-iam-monitor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2" name="TextBox 25"/>
          <p:cNvSpPr/>
          <p:nvPr/>
        </p:nvSpPr>
        <p:spPr>
          <a:xfrm>
            <a:off x="10253160" y="64008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B0BC"/>
                </a:solidFill>
                <a:effectLst/>
                <a:uFillTx/>
                <a:latin typeface="Segoe UI"/>
              </a:rPr>
              <a:t>09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E24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D66E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5" name="Picture 3" descr="_icon_t.png"/>
          <p:cNvPicPr/>
          <p:nvPr/>
        </p:nvPicPr>
        <p:blipFill>
          <a:blip r:embed="rId1"/>
          <a:stretch/>
        </p:blipFill>
        <p:spPr>
          <a:xfrm>
            <a:off x="5181480" y="960120"/>
            <a:ext cx="1903320" cy="178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Box 4"/>
          <p:cNvSpPr/>
          <p:nvPr/>
        </p:nvSpPr>
        <p:spPr>
          <a:xfrm>
            <a:off x="841320" y="3063240"/>
            <a:ext cx="10508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Merci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841320" y="3931920"/>
            <a:ext cx="105087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8C6D6"/>
                </a:solidFill>
                <a:effectLst/>
                <a:uFillTx/>
                <a:latin typeface="Segoe UI"/>
              </a:rPr>
              <a:t>Détecter  ·  classer  ·  alerter — avant qu'une mauvaise configuration ne devienne une brèche.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78" name="Rounded Rectangle 6"/>
          <p:cNvSpPr/>
          <p:nvPr/>
        </p:nvSpPr>
        <p:spPr>
          <a:xfrm>
            <a:off x="2712600" y="4709160"/>
            <a:ext cx="6766200" cy="731160"/>
          </a:xfrm>
          <a:prstGeom prst="roundRect">
            <a:avLst>
              <a:gd name="adj" fmla="val 22000"/>
            </a:avLst>
          </a:prstGeom>
          <a:solidFill>
            <a:srgbClr val="1432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2712600" y="470916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github.com/ZouariOmar/aws-iam-monitor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80" name="Rounded Rectangle 8"/>
          <p:cNvSpPr/>
          <p:nvPr/>
        </p:nvSpPr>
        <p:spPr>
          <a:xfrm>
            <a:off x="4572000" y="5614920"/>
            <a:ext cx="3200400" cy="785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D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1" name=""/>
          <p:cNvPicPr/>
          <p:nvPr/>
        </p:nvPicPr>
        <p:blipFill>
          <a:blip r:embed="rId2"/>
          <a:stretch/>
        </p:blipFill>
        <p:spPr>
          <a:xfrm>
            <a:off x="4800600" y="5803200"/>
            <a:ext cx="1151640" cy="4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"/>
          <p:cNvPicPr/>
          <p:nvPr/>
        </p:nvPicPr>
        <p:blipFill>
          <a:blip r:embed="rId3"/>
          <a:stretch/>
        </p:blipFill>
        <p:spPr>
          <a:xfrm>
            <a:off x="6071400" y="5803200"/>
            <a:ext cx="14724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2026-08-28T15:49:14Z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