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AFFA850-C012-4844-A729-C54FA730FC6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B177F78-7998-401A-9CD9-8D7B55AAB5D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040486D-BFAA-46EC-9983-71B35A247BE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81C26F2-DECA-46FC-AB05-F00550E8D64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2BEDF5E-68D0-4053-B09E-6B255A0C324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15D37D9-91E5-4352-B9F7-73A03A62BE1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D8E9683-51F1-4C88-A337-048C64326EC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60EF930-C11D-4346-BD67-F0BE3CAFA5D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7AAF632-0E5E-4631-B403-98F48D783AC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the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text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ck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yl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7AD8D44-9EAE-4C58-8157-7F8972A3586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C9B34A-D352-4845-AE10-1C88E509319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360" y="360"/>
            <a:ext cx="12191400" cy="685764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0"/>
            <a:ext cx="12191400" cy="145800"/>
          </a:xfrm>
          <a:prstGeom prst="rect">
            <a:avLst/>
          </a:prstGeom>
          <a:solidFill>
            <a:srgbClr val="1432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Rectangle 3"/>
          <p:cNvSpPr/>
          <p:nvPr/>
        </p:nvSpPr>
        <p:spPr>
          <a:xfrm>
            <a:off x="0" y="146160"/>
            <a:ext cx="12191400" cy="45360"/>
          </a:xfrm>
          <a:prstGeom prst="rect">
            <a:avLst/>
          </a:prstGeom>
          <a:solidFill>
            <a:srgbClr val="D66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4" name="Picture 4" descr="_full_t.png"/>
          <p:cNvPicPr/>
          <p:nvPr/>
        </p:nvPicPr>
        <p:blipFill>
          <a:blip r:embed="rId1"/>
          <a:stretch/>
        </p:blipFill>
        <p:spPr>
          <a:xfrm>
            <a:off x="3398400" y="1097280"/>
            <a:ext cx="5394600" cy="294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extBox 5"/>
          <p:cNvSpPr/>
          <p:nvPr/>
        </p:nvSpPr>
        <p:spPr>
          <a:xfrm>
            <a:off x="841320" y="3703320"/>
            <a:ext cx="10508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Real-time AWS IAM auditing &amp; automated threat detection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841320" y="4370760"/>
            <a:ext cx="105087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Serverless   ·   event-driven   ·   2 equivalent implementations (</a:t>
            </a:r>
            <a:r>
              <a:rPr lang="en-US" sz="1350" b="1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Bash</a:t>
            </a:r>
            <a:r>
              <a:rPr lang="en-US" sz="135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 &amp; </a:t>
            </a:r>
            <a:r>
              <a:rPr lang="en-US" sz="1350" b="1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Terraform</a:t>
            </a:r>
            <a:r>
              <a:rPr lang="en-US" sz="135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67" name="TextBox 12"/>
          <p:cNvSpPr/>
          <p:nvPr/>
        </p:nvSpPr>
        <p:spPr>
          <a:xfrm>
            <a:off x="841320" y="6291000"/>
            <a:ext cx="1050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Zouari Omar   ·   Cloud &amp; Sécurité   ·   2026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pic>
        <p:nvPicPr>
          <p:cNvPr id="68" name=""/>
          <p:cNvPicPr/>
          <p:nvPr/>
        </p:nvPicPr>
        <p:blipFill>
          <a:blip r:embed="rId2"/>
          <a:stretch/>
        </p:blipFill>
        <p:spPr>
          <a:xfrm>
            <a:off x="4724280" y="5833800"/>
            <a:ext cx="1151640" cy="42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"/>
          <p:cNvPicPr/>
          <p:nvPr/>
        </p:nvPicPr>
        <p:blipFill>
          <a:blip r:embed="rId3"/>
          <a:stretch/>
        </p:blipFill>
        <p:spPr>
          <a:xfrm>
            <a:off x="5995080" y="5833800"/>
            <a:ext cx="1472400" cy="457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ectangle 202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Rectangle 204"/>
          <p:cNvSpPr/>
          <p:nvPr/>
        </p:nvSpPr>
        <p:spPr>
          <a:xfrm>
            <a:off x="841320" y="567000"/>
            <a:ext cx="310680" cy="82080"/>
          </a:xfrm>
          <a:prstGeom prst="rect">
            <a:avLst/>
          </a:prstGeom>
          <a:solidFill>
            <a:srgbClr val="D66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Box 206"/>
          <p:cNvSpPr/>
          <p:nvPr/>
        </p:nvSpPr>
        <p:spPr>
          <a:xfrm>
            <a:off x="1298520" y="4572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l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AGENDA</a:t>
            </a:r>
            <a:endParaRPr lang="en-US" sz="1250" b="0" u="none" strike="noStrike">
              <a:solidFill>
                <a:srgbClr val="546070"/>
              </a:solidFill>
              <a:effectLst/>
              <a:uFillTx/>
              <a:latin typeface="Segoe UI"/>
            </a:endParaRPr>
          </a:p>
        </p:txBody>
      </p:sp>
      <p:sp>
        <p:nvSpPr>
          <p:cNvPr id="207" name="TextBox 208"/>
          <p:cNvSpPr/>
          <p:nvPr/>
        </p:nvSpPr>
        <p:spPr>
          <a:xfrm>
            <a:off x="841320" y="841320"/>
            <a:ext cx="10508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l" defTabSz="457200">
              <a:lnSpc>
                <a:spcPct val="100000"/>
              </a:lnSpc>
            </a:pPr>
            <a:r>
              <a:rPr lang="en-US" sz="31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What this deck covers</a:t>
            </a:r>
            <a:endParaRPr lang="en-US" sz="3100" b="0" u="none" strike="noStrike">
              <a:solidFill>
                <a:srgbClr val="14325A"/>
              </a:solidFill>
              <a:effectLst/>
              <a:uFillTx/>
              <a:latin typeface="Segoe UI"/>
            </a:endParaRPr>
          </a:p>
        </p:txBody>
      </p:sp>
      <p:sp>
        <p:nvSpPr>
          <p:cNvPr id="209" name="TextBox 210"/>
          <p:cNvSpPr/>
          <p:nvPr/>
        </p:nvSpPr>
        <p:spPr>
          <a:xfrm>
            <a:off x="841320" y="1783080"/>
            <a:ext cx="10508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l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From the risk, through the architecture, to the validated result.</a:t>
            </a:r>
            <a:endParaRPr lang="en-US" sz="1500" b="0" u="none" strike="noStrike">
              <a:solidFill>
                <a:srgbClr val="546070"/>
              </a:solidFill>
              <a:effectLst/>
              <a:uFillTx/>
              <a:latin typeface="Segoe UI"/>
            </a:endParaRPr>
          </a:p>
        </p:txBody>
      </p:sp>
      <p:sp>
        <p:nvSpPr>
          <p:cNvPr id="211" name="Rounded Rectangle 212"/>
          <p:cNvSpPr/>
          <p:nvPr/>
        </p:nvSpPr>
        <p:spPr>
          <a:xfrm>
            <a:off x="841320" y="2529840"/>
            <a:ext cx="503172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Rounded Rectangle 214"/>
          <p:cNvSpPr/>
          <p:nvPr/>
        </p:nvSpPr>
        <p:spPr>
          <a:xfrm>
            <a:off x="988200" y="2660160"/>
            <a:ext cx="470880" cy="470880"/>
          </a:xfrm>
          <a:prstGeom prst="roundRect">
            <a:avLst>
              <a:gd name="adj" fmla="val 24000"/>
            </a:avLst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Box 216"/>
          <p:cNvSpPr/>
          <p:nvPr/>
        </p:nvSpPr>
        <p:spPr>
          <a:xfrm>
            <a:off x="988200" y="2660160"/>
            <a:ext cx="470880" cy="4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Segoe UI"/>
            </a:endParaRPr>
          </a:p>
        </p:txBody>
      </p:sp>
      <p:sp>
        <p:nvSpPr>
          <p:cNvPr id="217" name="TextBox 218"/>
          <p:cNvSpPr/>
          <p:nvPr/>
        </p:nvSpPr>
        <p:spPr>
          <a:xfrm>
            <a:off x="1583640" y="2622720"/>
            <a:ext cx="414288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l"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The problem</a:t>
            </a:r>
            <a:endParaRPr lang="en-US" sz="1450" b="0" u="none" strike="noStrike">
              <a:solidFill>
                <a:srgbClr val="14325A"/>
              </a:solidFill>
              <a:effectLst/>
              <a:uFillTx/>
              <a:latin typeface="Segoe UI"/>
            </a:endParaRPr>
          </a:p>
        </p:txBody>
      </p:sp>
      <p:sp>
        <p:nvSpPr>
          <p:cNvPr id="219" name="TextBox 220"/>
          <p:cNvSpPr/>
          <p:nvPr/>
        </p:nvSpPr>
        <p:spPr>
          <a:xfrm>
            <a:off x="1583640" y="2930160"/>
            <a:ext cx="4142880" cy="28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l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Why one wrong IAM change can expose the account</a:t>
            </a:r>
            <a:endParaRPr lang="en-US" sz="1050" b="0" u="none" strike="noStrike">
              <a:solidFill>
                <a:srgbClr val="546070"/>
              </a:solidFill>
              <a:effectLst/>
              <a:uFillTx/>
              <a:latin typeface="Segoe UI"/>
            </a:endParaRPr>
          </a:p>
        </p:txBody>
      </p:sp>
      <p:sp>
        <p:nvSpPr>
          <p:cNvPr id="221" name="Rounded Rectangle 222"/>
          <p:cNvSpPr/>
          <p:nvPr/>
        </p:nvSpPr>
        <p:spPr>
          <a:xfrm>
            <a:off x="841320" y="3431840"/>
            <a:ext cx="503172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Rounded Rectangle 224"/>
          <p:cNvSpPr/>
          <p:nvPr/>
        </p:nvSpPr>
        <p:spPr>
          <a:xfrm>
            <a:off x="988200" y="3562160"/>
            <a:ext cx="470880" cy="470880"/>
          </a:xfrm>
          <a:prstGeom prst="roundRect">
            <a:avLst>
              <a:gd name="adj" fmla="val 24000"/>
            </a:avLst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TextBox 226"/>
          <p:cNvSpPr/>
          <p:nvPr/>
        </p:nvSpPr>
        <p:spPr>
          <a:xfrm>
            <a:off x="988200" y="3562160"/>
            <a:ext cx="470880" cy="4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Segoe UI"/>
            </a:endParaRPr>
          </a:p>
        </p:txBody>
      </p:sp>
      <p:sp>
        <p:nvSpPr>
          <p:cNvPr id="227" name="TextBox 228"/>
          <p:cNvSpPr/>
          <p:nvPr/>
        </p:nvSpPr>
        <p:spPr>
          <a:xfrm>
            <a:off x="1583640" y="3524720"/>
            <a:ext cx="414288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l"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The solution</a:t>
            </a:r>
            <a:endParaRPr lang="en-US" sz="1450" b="0" u="none" strike="noStrike">
              <a:solidFill>
                <a:srgbClr val="14325A"/>
              </a:solidFill>
              <a:effectLst/>
              <a:uFillTx/>
              <a:latin typeface="Segoe UI"/>
            </a:endParaRPr>
          </a:p>
        </p:txBody>
      </p:sp>
      <p:sp>
        <p:nvSpPr>
          <p:cNvPr id="229" name="TextBox 230"/>
          <p:cNvSpPr/>
          <p:nvPr/>
        </p:nvSpPr>
        <p:spPr>
          <a:xfrm>
            <a:off x="1583640" y="3832160"/>
            <a:ext cx="4142880" cy="28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l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Continuous, automated IAM supervision</a:t>
            </a:r>
            <a:endParaRPr lang="en-US" sz="1050" b="0" u="none" strike="noStrike">
              <a:solidFill>
                <a:srgbClr val="546070"/>
              </a:solidFill>
              <a:effectLst/>
              <a:uFillTx/>
              <a:latin typeface="Segoe UI"/>
            </a:endParaRPr>
          </a:p>
        </p:txBody>
      </p:sp>
      <p:sp>
        <p:nvSpPr>
          <p:cNvPr id="231" name="Rounded Rectangle 232"/>
          <p:cNvSpPr/>
          <p:nvPr/>
        </p:nvSpPr>
        <p:spPr>
          <a:xfrm>
            <a:off x="841320" y="4333840"/>
            <a:ext cx="503172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3" name="Rounded Rectangle 234"/>
          <p:cNvSpPr/>
          <p:nvPr/>
        </p:nvSpPr>
        <p:spPr>
          <a:xfrm>
            <a:off x="988200" y="4464160"/>
            <a:ext cx="470880" cy="470880"/>
          </a:xfrm>
          <a:prstGeom prst="roundRect">
            <a:avLst>
              <a:gd name="adj" fmla="val 24000"/>
            </a:avLst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5" name="TextBox 236"/>
          <p:cNvSpPr/>
          <p:nvPr/>
        </p:nvSpPr>
        <p:spPr>
          <a:xfrm>
            <a:off x="988200" y="4464160"/>
            <a:ext cx="470880" cy="4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Segoe UI"/>
            </a:endParaRPr>
          </a:p>
        </p:txBody>
      </p:sp>
      <p:sp>
        <p:nvSpPr>
          <p:cNvPr id="237" name="TextBox 238"/>
          <p:cNvSpPr/>
          <p:nvPr/>
        </p:nvSpPr>
        <p:spPr>
          <a:xfrm>
            <a:off x="1583640" y="4426720"/>
            <a:ext cx="414288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l"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Architecture</a:t>
            </a:r>
            <a:endParaRPr lang="en-US" sz="1450" b="0" u="none" strike="noStrike">
              <a:solidFill>
                <a:srgbClr val="14325A"/>
              </a:solidFill>
              <a:effectLst/>
              <a:uFillTx/>
              <a:latin typeface="Segoe UI"/>
            </a:endParaRPr>
          </a:p>
        </p:txBody>
      </p:sp>
      <p:sp>
        <p:nvSpPr>
          <p:cNvPr id="239" name="TextBox 240"/>
          <p:cNvSpPr/>
          <p:nvPr/>
        </p:nvSpPr>
        <p:spPr>
          <a:xfrm>
            <a:off x="1583640" y="4734160"/>
            <a:ext cx="4142880" cy="28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l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One event-driven, serverless pipeline</a:t>
            </a:r>
            <a:endParaRPr lang="en-US" sz="1050" b="0" u="none" strike="noStrike">
              <a:solidFill>
                <a:srgbClr val="546070"/>
              </a:solidFill>
              <a:effectLst/>
              <a:uFillTx/>
              <a:latin typeface="Segoe UI"/>
            </a:endParaRPr>
          </a:p>
        </p:txBody>
      </p:sp>
      <p:sp>
        <p:nvSpPr>
          <p:cNvPr id="241" name="Rounded Rectangle 242"/>
          <p:cNvSpPr/>
          <p:nvPr/>
        </p:nvSpPr>
        <p:spPr>
          <a:xfrm>
            <a:off x="841320" y="5235840"/>
            <a:ext cx="503172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Rounded Rectangle 244"/>
          <p:cNvSpPr/>
          <p:nvPr/>
        </p:nvSpPr>
        <p:spPr>
          <a:xfrm>
            <a:off x="988200" y="5366160"/>
            <a:ext cx="470880" cy="470880"/>
          </a:xfrm>
          <a:prstGeom prst="roundRect">
            <a:avLst>
              <a:gd name="adj" fmla="val 24000"/>
            </a:avLst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TextBox 246"/>
          <p:cNvSpPr/>
          <p:nvPr/>
        </p:nvSpPr>
        <p:spPr>
          <a:xfrm>
            <a:off x="988200" y="5366160"/>
            <a:ext cx="470880" cy="4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Segoe UI"/>
            </a:endParaRPr>
          </a:p>
        </p:txBody>
      </p:sp>
      <p:sp>
        <p:nvSpPr>
          <p:cNvPr id="247" name="TextBox 248"/>
          <p:cNvSpPr/>
          <p:nvPr/>
        </p:nvSpPr>
        <p:spPr>
          <a:xfrm>
            <a:off x="1583640" y="5328720"/>
            <a:ext cx="414288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l"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How it works</a:t>
            </a:r>
            <a:endParaRPr lang="en-US" sz="1450" b="0" u="none" strike="noStrike">
              <a:solidFill>
                <a:srgbClr val="14325A"/>
              </a:solidFill>
              <a:effectLst/>
              <a:uFillTx/>
              <a:latin typeface="Segoe UI"/>
            </a:endParaRPr>
          </a:p>
        </p:txBody>
      </p:sp>
      <p:sp>
        <p:nvSpPr>
          <p:cNvPr id="249" name="TextBox 250"/>
          <p:cNvSpPr/>
          <p:nvPr/>
        </p:nvSpPr>
        <p:spPr>
          <a:xfrm>
            <a:off x="1583640" y="5636160"/>
            <a:ext cx="4142880" cy="28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l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Capture, filter, analyse, act</a:t>
            </a:r>
            <a:endParaRPr lang="en-US" sz="1050" b="0" u="none" strike="noStrike">
              <a:solidFill>
                <a:srgbClr val="546070"/>
              </a:solidFill>
              <a:effectLst/>
              <a:uFillTx/>
              <a:latin typeface="Segoe UI"/>
            </a:endParaRPr>
          </a:p>
        </p:txBody>
      </p:sp>
      <p:sp>
        <p:nvSpPr>
          <p:cNvPr id="251" name="Rounded Rectangle 252"/>
          <p:cNvSpPr/>
          <p:nvPr/>
        </p:nvSpPr>
        <p:spPr>
          <a:xfrm>
            <a:off x="6318360" y="2529840"/>
            <a:ext cx="503172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Rounded Rectangle 254"/>
          <p:cNvSpPr/>
          <p:nvPr/>
        </p:nvSpPr>
        <p:spPr>
          <a:xfrm>
            <a:off x="6465240" y="2660160"/>
            <a:ext cx="470880" cy="470880"/>
          </a:xfrm>
          <a:prstGeom prst="roundRect">
            <a:avLst>
              <a:gd name="adj" fmla="val 24000"/>
            </a:avLst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5" name="TextBox 256"/>
          <p:cNvSpPr/>
          <p:nvPr/>
        </p:nvSpPr>
        <p:spPr>
          <a:xfrm>
            <a:off x="6465240" y="2660160"/>
            <a:ext cx="470880" cy="4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Segoe UI"/>
            </a:endParaRPr>
          </a:p>
        </p:txBody>
      </p:sp>
      <p:sp>
        <p:nvSpPr>
          <p:cNvPr id="257" name="TextBox 258"/>
          <p:cNvSpPr/>
          <p:nvPr/>
        </p:nvSpPr>
        <p:spPr>
          <a:xfrm>
            <a:off x="7060680" y="2622720"/>
            <a:ext cx="414288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l"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Risk model</a:t>
            </a:r>
            <a:endParaRPr lang="en-US" sz="1450" b="0" u="none" strike="noStrike">
              <a:solidFill>
                <a:srgbClr val="14325A"/>
              </a:solidFill>
              <a:effectLst/>
              <a:uFillTx/>
              <a:latin typeface="Segoe UI"/>
            </a:endParaRPr>
          </a:p>
        </p:txBody>
      </p:sp>
      <p:sp>
        <p:nvSpPr>
          <p:cNvPr id="259" name="TextBox 260"/>
          <p:cNvSpPr/>
          <p:nvPr/>
        </p:nvSpPr>
        <p:spPr>
          <a:xfrm>
            <a:off x="7060680" y="2930160"/>
            <a:ext cx="4142880" cy="28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l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CRITICAL / HIGH / MEDIUM / LOW grading</a:t>
            </a:r>
            <a:endParaRPr lang="en-US" sz="1050" b="0" u="none" strike="noStrike">
              <a:solidFill>
                <a:srgbClr val="546070"/>
              </a:solidFill>
              <a:effectLst/>
              <a:uFillTx/>
              <a:latin typeface="Segoe UI"/>
            </a:endParaRPr>
          </a:p>
        </p:txBody>
      </p:sp>
      <p:sp>
        <p:nvSpPr>
          <p:cNvPr id="261" name="Rounded Rectangle 262"/>
          <p:cNvSpPr/>
          <p:nvPr/>
        </p:nvSpPr>
        <p:spPr>
          <a:xfrm>
            <a:off x="6318360" y="3431840"/>
            <a:ext cx="503172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3" name="Rounded Rectangle 264"/>
          <p:cNvSpPr/>
          <p:nvPr/>
        </p:nvSpPr>
        <p:spPr>
          <a:xfrm>
            <a:off x="6465240" y="3562160"/>
            <a:ext cx="470880" cy="470880"/>
          </a:xfrm>
          <a:prstGeom prst="roundRect">
            <a:avLst>
              <a:gd name="adj" fmla="val 24000"/>
            </a:avLst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5" name="TextBox 266"/>
          <p:cNvSpPr/>
          <p:nvPr/>
        </p:nvSpPr>
        <p:spPr>
          <a:xfrm>
            <a:off x="6465240" y="3562160"/>
            <a:ext cx="470880" cy="4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6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Segoe UI"/>
            </a:endParaRPr>
          </a:p>
        </p:txBody>
      </p:sp>
      <p:sp>
        <p:nvSpPr>
          <p:cNvPr id="267" name="TextBox 268"/>
          <p:cNvSpPr/>
          <p:nvPr/>
        </p:nvSpPr>
        <p:spPr>
          <a:xfrm>
            <a:off x="7060680" y="3524720"/>
            <a:ext cx="414288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l"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Delivery</a:t>
            </a:r>
            <a:endParaRPr lang="en-US" sz="1450" b="0" u="none" strike="noStrike">
              <a:solidFill>
                <a:srgbClr val="14325A"/>
              </a:solidFill>
              <a:effectLst/>
              <a:uFillTx/>
              <a:latin typeface="Segoe UI"/>
            </a:endParaRPr>
          </a:p>
        </p:txBody>
      </p:sp>
      <p:sp>
        <p:nvSpPr>
          <p:cNvPr id="269" name="TextBox 270"/>
          <p:cNvSpPr/>
          <p:nvPr/>
        </p:nvSpPr>
        <p:spPr>
          <a:xfrm>
            <a:off x="7060680" y="3832160"/>
            <a:ext cx="4142880" cy="28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l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Bash and Terraform, functionally equivalent</a:t>
            </a:r>
            <a:endParaRPr lang="en-US" sz="1050" b="0" u="none" strike="noStrike">
              <a:solidFill>
                <a:srgbClr val="546070"/>
              </a:solidFill>
              <a:effectLst/>
              <a:uFillTx/>
              <a:latin typeface="Segoe UI"/>
            </a:endParaRPr>
          </a:p>
        </p:txBody>
      </p:sp>
      <p:sp>
        <p:nvSpPr>
          <p:cNvPr id="271" name="Rounded Rectangle 272"/>
          <p:cNvSpPr/>
          <p:nvPr/>
        </p:nvSpPr>
        <p:spPr>
          <a:xfrm>
            <a:off x="6318360" y="4333840"/>
            <a:ext cx="503172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3" name="Rounded Rectangle 274"/>
          <p:cNvSpPr/>
          <p:nvPr/>
        </p:nvSpPr>
        <p:spPr>
          <a:xfrm>
            <a:off x="6465240" y="4464160"/>
            <a:ext cx="470880" cy="470880"/>
          </a:xfrm>
          <a:prstGeom prst="roundRect">
            <a:avLst>
              <a:gd name="adj" fmla="val 24000"/>
            </a:avLst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5" name="TextBox 276"/>
          <p:cNvSpPr/>
          <p:nvPr/>
        </p:nvSpPr>
        <p:spPr>
          <a:xfrm>
            <a:off x="6465240" y="4464160"/>
            <a:ext cx="470880" cy="4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7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Segoe UI"/>
            </a:endParaRPr>
          </a:p>
        </p:txBody>
      </p:sp>
      <p:sp>
        <p:nvSpPr>
          <p:cNvPr id="277" name="TextBox 278"/>
          <p:cNvSpPr/>
          <p:nvPr/>
        </p:nvSpPr>
        <p:spPr>
          <a:xfrm>
            <a:off x="7060680" y="4426720"/>
            <a:ext cx="414288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l"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Project cost</a:t>
            </a:r>
            <a:endParaRPr lang="en-US" sz="1450" b="0" u="none" strike="noStrike">
              <a:solidFill>
                <a:srgbClr val="14325A"/>
              </a:solidFill>
              <a:effectLst/>
              <a:uFillTx/>
              <a:latin typeface="Segoe UI"/>
            </a:endParaRPr>
          </a:p>
        </p:txBody>
      </p:sp>
      <p:sp>
        <p:nvSpPr>
          <p:cNvPr id="279" name="TextBox 280"/>
          <p:cNvSpPr/>
          <p:nvPr/>
        </p:nvSpPr>
        <p:spPr>
          <a:xfrm>
            <a:off x="7060680" y="4734160"/>
            <a:ext cx="4142880" cy="28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l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Standard on-demand rates, no Free Tier</a:t>
            </a:r>
            <a:endParaRPr lang="en-US" sz="1050" b="0" u="none" strike="noStrike">
              <a:solidFill>
                <a:srgbClr val="546070"/>
              </a:solidFill>
              <a:effectLst/>
              <a:uFillTx/>
              <a:latin typeface="Segoe UI"/>
            </a:endParaRPr>
          </a:p>
        </p:txBody>
      </p:sp>
      <p:sp>
        <p:nvSpPr>
          <p:cNvPr id="281" name="Rounded Rectangle 282"/>
          <p:cNvSpPr/>
          <p:nvPr/>
        </p:nvSpPr>
        <p:spPr>
          <a:xfrm>
            <a:off x="6318360" y="5235840"/>
            <a:ext cx="503172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3" name="Rounded Rectangle 284"/>
          <p:cNvSpPr/>
          <p:nvPr/>
        </p:nvSpPr>
        <p:spPr>
          <a:xfrm>
            <a:off x="6465240" y="5366160"/>
            <a:ext cx="470880" cy="470880"/>
          </a:xfrm>
          <a:prstGeom prst="roundRect">
            <a:avLst>
              <a:gd name="adj" fmla="val 24000"/>
            </a:avLst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5" name="TextBox 286"/>
          <p:cNvSpPr/>
          <p:nvPr/>
        </p:nvSpPr>
        <p:spPr>
          <a:xfrm>
            <a:off x="6465240" y="5366160"/>
            <a:ext cx="470880" cy="4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8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Segoe UI"/>
            </a:endParaRPr>
          </a:p>
        </p:txBody>
      </p:sp>
      <p:sp>
        <p:nvSpPr>
          <p:cNvPr id="287" name="TextBox 288"/>
          <p:cNvSpPr/>
          <p:nvPr/>
        </p:nvSpPr>
        <p:spPr>
          <a:xfrm>
            <a:off x="7060680" y="5328720"/>
            <a:ext cx="414288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l"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Results</a:t>
            </a:r>
            <a:endParaRPr lang="en-US" sz="1450" b="0" u="none" strike="noStrike">
              <a:solidFill>
                <a:srgbClr val="14325A"/>
              </a:solidFill>
              <a:effectLst/>
              <a:uFillTx/>
              <a:latin typeface="Segoe UI"/>
            </a:endParaRPr>
          </a:p>
        </p:txBody>
      </p:sp>
      <p:sp>
        <p:nvSpPr>
          <p:cNvPr id="289" name="TextBox 290"/>
          <p:cNvSpPr/>
          <p:nvPr/>
        </p:nvSpPr>
        <p:spPr>
          <a:xfrm>
            <a:off x="7060680" y="5636160"/>
            <a:ext cx="4142880" cy="28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l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Validated end to end on both stacks</a:t>
            </a:r>
            <a:endParaRPr lang="en-US" sz="1050" b="0" u="none" strike="noStrike">
              <a:solidFill>
                <a:srgbClr val="546070"/>
              </a:solidFill>
              <a:effectLst/>
              <a:uFillTx/>
              <a:latin typeface="Segoe UI"/>
            </a:endParaRPr>
          </a:p>
        </p:txBody>
      </p:sp>
      <p:sp>
        <p:nvSpPr>
          <p:cNvPr id="291" name="TextBox 292"/>
          <p:cNvSpPr/>
          <p:nvPr/>
        </p:nvSpPr>
        <p:spPr>
          <a:xfrm>
            <a:off x="841320" y="64008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l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6B0BC"/>
                </a:solidFill>
                <a:effectLst/>
                <a:uFillTx/>
                <a:latin typeface="Segoe UI"/>
              </a:rPr>
              <a:t>aws-iam-monitor</a:t>
            </a:r>
            <a:endParaRPr lang="en-US" sz="1000" b="0" u="none" strike="noStrike">
              <a:solidFill>
                <a:srgbClr val="A6B0BC"/>
              </a:solidFill>
              <a:effectLst/>
              <a:uFillTx/>
              <a:latin typeface="Segoe UI"/>
            </a:endParaRPr>
          </a:p>
        </p:txBody>
      </p:sp>
      <p:sp>
        <p:nvSpPr>
          <p:cNvPr id="293" name="TextBox 294"/>
          <p:cNvSpPr/>
          <p:nvPr/>
        </p:nvSpPr>
        <p:spPr>
          <a:xfrm>
            <a:off x="10253160" y="64008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6B0BC"/>
                </a:solidFill>
                <a:effectLst/>
                <a:uFillTx/>
                <a:latin typeface="Segoe UI"/>
              </a:rPr>
              <a:t>01 / 10</a:t>
            </a:r>
            <a:endParaRPr lang="en-US" sz="1000" b="0" u="none" strike="noStrike">
              <a:solidFill>
                <a:srgbClr val="A6B0BC"/>
              </a:solidFill>
              <a:effectLst/>
              <a:uFillTx/>
              <a:latin typeface="Segoe U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Rectangle 2"/>
          <p:cNvSpPr/>
          <p:nvPr/>
        </p:nvSpPr>
        <p:spPr>
          <a:xfrm>
            <a:off x="841320" y="567000"/>
            <a:ext cx="310680" cy="82080"/>
          </a:xfrm>
          <a:prstGeom prst="rect">
            <a:avLst/>
          </a:prstGeom>
          <a:solidFill>
            <a:srgbClr val="D66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3"/>
          <p:cNvSpPr/>
          <p:nvPr/>
        </p:nvSpPr>
        <p:spPr>
          <a:xfrm>
            <a:off x="1298520" y="4572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THE PROBLEM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75" name="TextBox 4"/>
          <p:cNvSpPr/>
          <p:nvPr/>
        </p:nvSpPr>
        <p:spPr>
          <a:xfrm>
            <a:off x="841320" y="841320"/>
            <a:ext cx="10508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1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One wrong IAM change can open the whole account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76" name="TextBox 5"/>
          <p:cNvSpPr/>
          <p:nvPr/>
        </p:nvSpPr>
        <p:spPr>
          <a:xfrm>
            <a:off x="841320" y="1783080"/>
            <a:ext cx="10508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Not a code bug — a permissions mistake. Harder to spot, and rarely reviewed in real time.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77" name="Rounded Rectangle 6"/>
          <p:cNvSpPr/>
          <p:nvPr/>
        </p:nvSpPr>
        <p:spPr>
          <a:xfrm>
            <a:off x="841320" y="2651760"/>
            <a:ext cx="3319920" cy="2468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Rectangle 7"/>
          <p:cNvSpPr/>
          <p:nvPr/>
        </p:nvSpPr>
        <p:spPr>
          <a:xfrm>
            <a:off x="859680" y="2797920"/>
            <a:ext cx="63720" cy="2175840"/>
          </a:xfrm>
          <a:prstGeom prst="rect">
            <a:avLst/>
          </a:prstGeom>
          <a:solidFill>
            <a:srgbClr val="B326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Box 8"/>
          <p:cNvSpPr/>
          <p:nvPr/>
        </p:nvSpPr>
        <p:spPr>
          <a:xfrm>
            <a:off x="1097280" y="2853000"/>
            <a:ext cx="2926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Backdoor identity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80" name="TextBox 9"/>
          <p:cNvSpPr/>
          <p:nvPr/>
        </p:nvSpPr>
        <p:spPr>
          <a:xfrm>
            <a:off x="1097280" y="3328560"/>
            <a:ext cx="28810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4000"/>
              </a:lnSpc>
            </a:pPr>
            <a:r>
              <a:rPr lang="en-US" sz="13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A new user or access key created without approval — quiet, persistent access.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81" name="Rounded Rectangle 10"/>
          <p:cNvSpPr/>
          <p:nvPr/>
        </p:nvSpPr>
        <p:spPr>
          <a:xfrm>
            <a:off x="4435920" y="2651760"/>
            <a:ext cx="3319920" cy="2468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Rectangle 11"/>
          <p:cNvSpPr/>
          <p:nvPr/>
        </p:nvSpPr>
        <p:spPr>
          <a:xfrm>
            <a:off x="4453920" y="2797920"/>
            <a:ext cx="63720" cy="2175840"/>
          </a:xfrm>
          <a:prstGeom prst="rect">
            <a:avLst/>
          </a:prstGeom>
          <a:solidFill>
            <a:srgbClr val="D66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12"/>
          <p:cNvSpPr/>
          <p:nvPr/>
        </p:nvSpPr>
        <p:spPr>
          <a:xfrm>
            <a:off x="4691880" y="2853000"/>
            <a:ext cx="2926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Privilege escalation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84" name="TextBox 13"/>
          <p:cNvSpPr/>
          <p:nvPr/>
        </p:nvSpPr>
        <p:spPr>
          <a:xfrm>
            <a:off x="4691880" y="3328560"/>
            <a:ext cx="28810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4000"/>
              </a:lnSpc>
            </a:pPr>
            <a:r>
              <a:rPr lang="en-US" sz="13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An over-permissive policy attached to a user, group or role.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85" name="Rounded Rectangle 14"/>
          <p:cNvSpPr/>
          <p:nvPr/>
        </p:nvSpPr>
        <p:spPr>
          <a:xfrm>
            <a:off x="8030160" y="2651760"/>
            <a:ext cx="3319920" cy="2468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Rectangle 15"/>
          <p:cNvSpPr/>
          <p:nvPr/>
        </p:nvSpPr>
        <p:spPr>
          <a:xfrm>
            <a:off x="8048520" y="2797920"/>
            <a:ext cx="63720" cy="2175840"/>
          </a:xfrm>
          <a:prstGeom prst="rect">
            <a:avLst/>
          </a:prstGeom>
          <a:solidFill>
            <a:srgbClr val="B326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Box 16"/>
          <p:cNvSpPr/>
          <p:nvPr/>
        </p:nvSpPr>
        <p:spPr>
          <a:xfrm>
            <a:off x="8286120" y="2853000"/>
            <a:ext cx="2926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Weakened controls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88" name="TextBox 17"/>
          <p:cNvSpPr/>
          <p:nvPr/>
        </p:nvSpPr>
        <p:spPr>
          <a:xfrm>
            <a:off x="8286120" y="3328560"/>
            <a:ext cx="28810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4000"/>
              </a:lnSpc>
            </a:pPr>
            <a:r>
              <a:rPr lang="en-US" sz="13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MFA disabled, or a security policy deleted, on a privileged account.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89" name="Rounded Rectangle 18"/>
          <p:cNvSpPr/>
          <p:nvPr/>
        </p:nvSpPr>
        <p:spPr>
          <a:xfrm>
            <a:off x="841320" y="5486400"/>
            <a:ext cx="10508760" cy="731160"/>
          </a:xfrm>
          <a:prstGeom prst="roundRect">
            <a:avLst>
              <a:gd name="adj" fmla="val 14000"/>
            </a:avLst>
          </a:prstGeom>
          <a:solidFill>
            <a:srgbClr val="EAF0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19"/>
          <p:cNvSpPr/>
          <p:nvPr/>
        </p:nvSpPr>
        <p:spPr>
          <a:xfrm>
            <a:off x="841320" y="5486400"/>
            <a:ext cx="10508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The need:   automated   ·   near real-time   ·   low-cost   ·   traceable   ·   reproducible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91" name="TextBox 20"/>
          <p:cNvSpPr/>
          <p:nvPr/>
        </p:nvSpPr>
        <p:spPr>
          <a:xfrm>
            <a:off x="841320" y="64008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6B0BC"/>
                </a:solidFill>
                <a:effectLst/>
                <a:uFillTx/>
                <a:latin typeface="Segoe UI"/>
              </a:rPr>
              <a:t>aws-iam-monitor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92" name="TextBox 21"/>
          <p:cNvSpPr/>
          <p:nvPr/>
        </p:nvSpPr>
        <p:spPr>
          <a:xfrm>
            <a:off x="10253160" y="64008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6B0BC"/>
                </a:solidFill>
                <a:effectLst/>
                <a:uFillTx/>
                <a:latin typeface="Segoe UI"/>
              </a:rPr>
              <a:t>02 /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Rectangle 2"/>
          <p:cNvSpPr/>
          <p:nvPr/>
        </p:nvSpPr>
        <p:spPr>
          <a:xfrm>
            <a:off x="841320" y="567000"/>
            <a:ext cx="310680" cy="82080"/>
          </a:xfrm>
          <a:prstGeom prst="rect">
            <a:avLst/>
          </a:prstGeom>
          <a:solidFill>
            <a:srgbClr val="D66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3"/>
          <p:cNvSpPr/>
          <p:nvPr/>
        </p:nvSpPr>
        <p:spPr>
          <a:xfrm>
            <a:off x="1298520" y="4572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THE SOLUTION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96" name="TextBox 4"/>
          <p:cNvSpPr/>
          <p:nvPr/>
        </p:nvSpPr>
        <p:spPr>
          <a:xfrm>
            <a:off x="841320" y="841320"/>
            <a:ext cx="10508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1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aws-iam-monitor — continuous IAM supervision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97" name="TextBox 5"/>
          <p:cNvSpPr/>
          <p:nvPr/>
        </p:nvSpPr>
        <p:spPr>
          <a:xfrm>
            <a:off x="841320" y="1783080"/>
            <a:ext cx="10508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Every sensitive IAM API call is captured, scored for risk, archived, and — when it matters — alerted.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98" name="Rounded Rectangle 6"/>
          <p:cNvSpPr/>
          <p:nvPr/>
        </p:nvSpPr>
        <p:spPr>
          <a:xfrm>
            <a:off x="841320" y="2651760"/>
            <a:ext cx="3319920" cy="2331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Rectangle 7"/>
          <p:cNvSpPr/>
          <p:nvPr/>
        </p:nvSpPr>
        <p:spPr>
          <a:xfrm>
            <a:off x="859680" y="2797920"/>
            <a:ext cx="63720" cy="2038680"/>
          </a:xfrm>
          <a:prstGeom prst="rect">
            <a:avLst/>
          </a:prstGeom>
          <a:solidFill>
            <a:srgbClr val="0E7C8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8"/>
          <p:cNvSpPr/>
          <p:nvPr/>
        </p:nvSpPr>
        <p:spPr>
          <a:xfrm>
            <a:off x="1097280" y="2853000"/>
            <a:ext cx="2926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Seconds, not days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01" name="TextBox 9"/>
          <p:cNvSpPr/>
          <p:nvPr/>
        </p:nvSpPr>
        <p:spPr>
          <a:xfrm>
            <a:off x="1097280" y="3328560"/>
            <a:ext cx="288108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4000"/>
              </a:lnSpc>
            </a:pPr>
            <a:r>
              <a:rPr lang="en-US" sz="13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Event-driven pipeline reacts within seconds of the API call.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02" name="Rounded Rectangle 10"/>
          <p:cNvSpPr/>
          <p:nvPr/>
        </p:nvSpPr>
        <p:spPr>
          <a:xfrm>
            <a:off x="4435920" y="2651760"/>
            <a:ext cx="3319920" cy="2331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Rectangle 11"/>
          <p:cNvSpPr/>
          <p:nvPr/>
        </p:nvSpPr>
        <p:spPr>
          <a:xfrm>
            <a:off x="4453920" y="2797920"/>
            <a:ext cx="63720" cy="2038680"/>
          </a:xfrm>
          <a:prstGeom prst="rect">
            <a:avLst/>
          </a:prstGeom>
          <a:solidFill>
            <a:srgbClr val="D66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12"/>
          <p:cNvSpPr/>
          <p:nvPr/>
        </p:nvSpPr>
        <p:spPr>
          <a:xfrm>
            <a:off x="4691880" y="2853000"/>
            <a:ext cx="2926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Automatic risk grading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05" name="TextBox 13"/>
          <p:cNvSpPr/>
          <p:nvPr/>
        </p:nvSpPr>
        <p:spPr>
          <a:xfrm>
            <a:off x="4691880" y="3328560"/>
            <a:ext cx="288108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4000"/>
              </a:lnSpc>
            </a:pPr>
            <a:r>
              <a:rPr lang="en-US" sz="13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Every call labelled CRITICAL / HIGH / MEDIUM / LOW, plus a source-IP check.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06" name="Rounded Rectangle 14"/>
          <p:cNvSpPr/>
          <p:nvPr/>
        </p:nvSpPr>
        <p:spPr>
          <a:xfrm>
            <a:off x="8030160" y="2651760"/>
            <a:ext cx="3319920" cy="2331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Rectangle 15"/>
          <p:cNvSpPr/>
          <p:nvPr/>
        </p:nvSpPr>
        <p:spPr>
          <a:xfrm>
            <a:off x="8048520" y="2797920"/>
            <a:ext cx="63720" cy="2038680"/>
          </a:xfrm>
          <a:prstGeom prst="rect">
            <a:avLst/>
          </a:prstGeom>
          <a:solidFill>
            <a:srgbClr val="1432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16"/>
          <p:cNvSpPr/>
          <p:nvPr/>
        </p:nvSpPr>
        <p:spPr>
          <a:xfrm>
            <a:off x="8286120" y="2853000"/>
            <a:ext cx="2926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Nothing to run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09" name="TextBox 17"/>
          <p:cNvSpPr/>
          <p:nvPr/>
        </p:nvSpPr>
        <p:spPr>
          <a:xfrm>
            <a:off x="8286120" y="3328560"/>
            <a:ext cx="288108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4000"/>
              </a:lnSpc>
            </a:pPr>
            <a:r>
              <a:rPr lang="en-US" sz="13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100% AWS managed services — no servers, pay only per event.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10" name="Rounded Rectangle 18"/>
          <p:cNvSpPr/>
          <p:nvPr/>
        </p:nvSpPr>
        <p:spPr>
          <a:xfrm>
            <a:off x="841320" y="5440680"/>
            <a:ext cx="10508760" cy="776880"/>
          </a:xfrm>
          <a:prstGeom prst="roundRect">
            <a:avLst>
              <a:gd name="adj" fmla="val 14000"/>
            </a:avLst>
          </a:prstGeom>
          <a:solidFill>
            <a:srgbClr val="1432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Box 19"/>
          <p:cNvSpPr/>
          <p:nvPr/>
        </p:nvSpPr>
        <p:spPr>
          <a:xfrm>
            <a:off x="841320" y="5440680"/>
            <a:ext cx="105087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IAM   →   CloudTrail   →   EventBridge   →   Lambda   →   SNS · S3 · CloudWatch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12" name="TextBox 20"/>
          <p:cNvSpPr/>
          <p:nvPr/>
        </p:nvSpPr>
        <p:spPr>
          <a:xfrm>
            <a:off x="841320" y="64008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6B0BC"/>
                </a:solidFill>
                <a:effectLst/>
                <a:uFillTx/>
                <a:latin typeface="Segoe UI"/>
              </a:rPr>
              <a:t>aws-iam-monitor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13" name="TextBox 21"/>
          <p:cNvSpPr/>
          <p:nvPr/>
        </p:nvSpPr>
        <p:spPr>
          <a:xfrm>
            <a:off x="10253160" y="64008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6B0BC"/>
                </a:solidFill>
                <a:effectLst/>
                <a:uFillTx/>
                <a:latin typeface="Segoe UI"/>
              </a:rPr>
              <a:t>03 /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E24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Rectangle 2"/>
          <p:cNvSpPr/>
          <p:nvPr/>
        </p:nvSpPr>
        <p:spPr>
          <a:xfrm>
            <a:off x="841320" y="567000"/>
            <a:ext cx="310680" cy="82080"/>
          </a:xfrm>
          <a:prstGeom prst="rect">
            <a:avLst/>
          </a:prstGeom>
          <a:solidFill>
            <a:srgbClr val="D66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3"/>
          <p:cNvSpPr/>
          <p:nvPr/>
        </p:nvSpPr>
        <p:spPr>
          <a:xfrm>
            <a:off x="1298520" y="4572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B8C6D6"/>
                </a:solidFill>
                <a:effectLst/>
                <a:uFillTx/>
                <a:latin typeface="Segoe UI"/>
              </a:rPr>
              <a:t>ARCHITECTURE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17" name="TextBox 4"/>
          <p:cNvSpPr/>
          <p:nvPr/>
        </p:nvSpPr>
        <p:spPr>
          <a:xfrm>
            <a:off x="841320" y="841320"/>
            <a:ext cx="10508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1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One event-driven pipeline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18" name="Rounded Rectangle 5"/>
          <p:cNvSpPr/>
          <p:nvPr/>
        </p:nvSpPr>
        <p:spPr>
          <a:xfrm>
            <a:off x="3919680" y="1517760"/>
            <a:ext cx="4352040" cy="4352040"/>
          </a:xfrm>
          <a:prstGeom prst="roundRect">
            <a:avLst>
              <a:gd name="adj" fmla="val 4000"/>
            </a:avLst>
          </a:prstGeom>
          <a:solidFill>
            <a:srgbClr val="0A0A0A"/>
          </a:solidFill>
          <a:ln w="15875">
            <a:solidFill>
              <a:srgbClr val="2C3E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9" name="Picture 6" descr="aws-iam-monitor-architecture-diagram.png"/>
          <p:cNvPicPr/>
          <p:nvPr/>
        </p:nvPicPr>
        <p:blipFill>
          <a:blip r:embed="rId1"/>
          <a:stretch/>
        </p:blipFill>
        <p:spPr>
          <a:xfrm>
            <a:off x="4038480" y="1636920"/>
            <a:ext cx="4114440" cy="411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TextBox 7"/>
          <p:cNvSpPr/>
          <p:nvPr/>
        </p:nvSpPr>
        <p:spPr>
          <a:xfrm>
            <a:off x="841320" y="6126480"/>
            <a:ext cx="10508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B8C6D6"/>
                </a:solidFill>
                <a:effectLst/>
                <a:uFillTx/>
                <a:latin typeface="Segoe UI"/>
              </a:rPr>
              <a:t>Provisioned identically by both implementations   ·   region us-east-1   ·   single Availability Zone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21" name="TextBox 8"/>
          <p:cNvSpPr/>
          <p:nvPr/>
        </p:nvSpPr>
        <p:spPr>
          <a:xfrm>
            <a:off x="841320" y="64008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C9DB0"/>
                </a:solidFill>
                <a:effectLst/>
                <a:uFillTx/>
                <a:latin typeface="Segoe UI"/>
              </a:rPr>
              <a:t>aws-iam-monitor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22" name="TextBox 9"/>
          <p:cNvSpPr/>
          <p:nvPr/>
        </p:nvSpPr>
        <p:spPr>
          <a:xfrm>
            <a:off x="10253160" y="64008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C9DB0"/>
                </a:solidFill>
                <a:effectLst/>
                <a:uFillTx/>
                <a:latin typeface="Segoe UI"/>
              </a:rPr>
              <a:t>04 /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Rectangle 2"/>
          <p:cNvSpPr/>
          <p:nvPr/>
        </p:nvSpPr>
        <p:spPr>
          <a:xfrm>
            <a:off x="841320" y="567000"/>
            <a:ext cx="310680" cy="82080"/>
          </a:xfrm>
          <a:prstGeom prst="rect">
            <a:avLst/>
          </a:prstGeom>
          <a:solidFill>
            <a:srgbClr val="D66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3"/>
          <p:cNvSpPr/>
          <p:nvPr/>
        </p:nvSpPr>
        <p:spPr>
          <a:xfrm>
            <a:off x="1298520" y="4572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HOW IT WORKS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26" name="TextBox 4"/>
          <p:cNvSpPr/>
          <p:nvPr/>
        </p:nvSpPr>
        <p:spPr>
          <a:xfrm>
            <a:off x="841320" y="841320"/>
            <a:ext cx="10508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1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Four steps, fully automated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27" name="Rounded Rectangle 5"/>
          <p:cNvSpPr/>
          <p:nvPr/>
        </p:nvSpPr>
        <p:spPr>
          <a:xfrm>
            <a:off x="841320" y="2286000"/>
            <a:ext cx="2421360" cy="2788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Rectangle 6"/>
          <p:cNvSpPr/>
          <p:nvPr/>
        </p:nvSpPr>
        <p:spPr>
          <a:xfrm>
            <a:off x="859680" y="2432160"/>
            <a:ext cx="63720" cy="2495880"/>
          </a:xfrm>
          <a:prstGeom prst="rect">
            <a:avLst/>
          </a:prstGeom>
          <a:solidFill>
            <a:srgbClr val="1432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7"/>
          <p:cNvSpPr/>
          <p:nvPr/>
        </p:nvSpPr>
        <p:spPr>
          <a:xfrm>
            <a:off x="1097280" y="2487240"/>
            <a:ext cx="2027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1  Capture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30" name="TextBox 8"/>
          <p:cNvSpPr/>
          <p:nvPr/>
        </p:nvSpPr>
        <p:spPr>
          <a:xfrm>
            <a:off x="1097280" y="2962800"/>
            <a:ext cx="198216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4000"/>
              </a:lnSpc>
            </a:pPr>
            <a:r>
              <a:rPr lang="en-US" sz="12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CloudTrail records every IAM management API call on the account.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31" name="TextBox 9"/>
          <p:cNvSpPr/>
          <p:nvPr/>
        </p:nvSpPr>
        <p:spPr>
          <a:xfrm>
            <a:off x="3235320" y="3452040"/>
            <a:ext cx="328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32" name="Rounded Rectangle 10"/>
          <p:cNvSpPr/>
          <p:nvPr/>
        </p:nvSpPr>
        <p:spPr>
          <a:xfrm>
            <a:off x="3537000" y="2286000"/>
            <a:ext cx="2421360" cy="2788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Rectangle 11"/>
          <p:cNvSpPr/>
          <p:nvPr/>
        </p:nvSpPr>
        <p:spPr>
          <a:xfrm>
            <a:off x="3555360" y="2432160"/>
            <a:ext cx="63720" cy="2495880"/>
          </a:xfrm>
          <a:prstGeom prst="rect">
            <a:avLst/>
          </a:prstGeom>
          <a:solidFill>
            <a:srgbClr val="0E7C8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12"/>
          <p:cNvSpPr/>
          <p:nvPr/>
        </p:nvSpPr>
        <p:spPr>
          <a:xfrm>
            <a:off x="3793320" y="2487240"/>
            <a:ext cx="2027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2  Filter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35" name="TextBox 13"/>
          <p:cNvSpPr/>
          <p:nvPr/>
        </p:nvSpPr>
        <p:spPr>
          <a:xfrm>
            <a:off x="3793320" y="2962800"/>
            <a:ext cx="198216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4000"/>
              </a:lnSpc>
            </a:pPr>
            <a:r>
              <a:rPr lang="en-US" sz="12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EventBridge matches iam.amazonaws.com events and triggers Lambda.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36" name="TextBox 14"/>
          <p:cNvSpPr/>
          <p:nvPr/>
        </p:nvSpPr>
        <p:spPr>
          <a:xfrm>
            <a:off x="5931360" y="3452040"/>
            <a:ext cx="328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37" name="Rounded Rectangle 15"/>
          <p:cNvSpPr/>
          <p:nvPr/>
        </p:nvSpPr>
        <p:spPr>
          <a:xfrm>
            <a:off x="6233040" y="2286000"/>
            <a:ext cx="2421360" cy="2788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Rectangle 16"/>
          <p:cNvSpPr/>
          <p:nvPr/>
        </p:nvSpPr>
        <p:spPr>
          <a:xfrm>
            <a:off x="6251400" y="2432160"/>
            <a:ext cx="63720" cy="2495880"/>
          </a:xfrm>
          <a:prstGeom prst="rect">
            <a:avLst/>
          </a:prstGeom>
          <a:solidFill>
            <a:srgbClr val="D66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17"/>
          <p:cNvSpPr/>
          <p:nvPr/>
        </p:nvSpPr>
        <p:spPr>
          <a:xfrm>
            <a:off x="6489000" y="2487240"/>
            <a:ext cx="2027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3  Analyse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40" name="TextBox 18"/>
          <p:cNvSpPr/>
          <p:nvPr/>
        </p:nvSpPr>
        <p:spPr>
          <a:xfrm>
            <a:off x="6489000" y="2962800"/>
            <a:ext cx="198216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4000"/>
              </a:lnSpc>
            </a:pPr>
            <a:r>
              <a:rPr lang="en-US" sz="12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Lambda parses the payload, checks the source IP, classifies the risk.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41" name="TextBox 19"/>
          <p:cNvSpPr/>
          <p:nvPr/>
        </p:nvSpPr>
        <p:spPr>
          <a:xfrm>
            <a:off x="8627040" y="3452040"/>
            <a:ext cx="328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42" name="Rounded Rectangle 20"/>
          <p:cNvSpPr/>
          <p:nvPr/>
        </p:nvSpPr>
        <p:spPr>
          <a:xfrm>
            <a:off x="8928720" y="2286000"/>
            <a:ext cx="2421360" cy="2788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Rectangle 21"/>
          <p:cNvSpPr/>
          <p:nvPr/>
        </p:nvSpPr>
        <p:spPr>
          <a:xfrm>
            <a:off x="8947080" y="2432160"/>
            <a:ext cx="63720" cy="249588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22"/>
          <p:cNvSpPr/>
          <p:nvPr/>
        </p:nvSpPr>
        <p:spPr>
          <a:xfrm>
            <a:off x="9185040" y="2487240"/>
            <a:ext cx="2027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4  Act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45" name="TextBox 23"/>
          <p:cNvSpPr/>
          <p:nvPr/>
        </p:nvSpPr>
        <p:spPr>
          <a:xfrm>
            <a:off x="9185040" y="2962800"/>
            <a:ext cx="198216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4000"/>
              </a:lnSpc>
            </a:pPr>
            <a:r>
              <a:rPr lang="en-US" sz="12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Archive JSON to S3 · alert via SNS on high risk · emit CloudWatch metrics.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46" name="Rounded Rectangle 24"/>
          <p:cNvSpPr/>
          <p:nvPr/>
        </p:nvSpPr>
        <p:spPr>
          <a:xfrm>
            <a:off x="841320" y="5486400"/>
            <a:ext cx="10508760" cy="731160"/>
          </a:xfrm>
          <a:prstGeom prst="roundRect">
            <a:avLst>
              <a:gd name="adj" fmla="val 14000"/>
            </a:avLst>
          </a:prstGeom>
          <a:solidFill>
            <a:srgbClr val="EAF0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Box 25"/>
          <p:cNvSpPr/>
          <p:nvPr/>
        </p:nvSpPr>
        <p:spPr>
          <a:xfrm>
            <a:off x="841320" y="5486400"/>
            <a:ext cx="10508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Shared Python 3.11 handler   ·   identical detection logic in both implementations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48" name="TextBox 26"/>
          <p:cNvSpPr/>
          <p:nvPr/>
        </p:nvSpPr>
        <p:spPr>
          <a:xfrm>
            <a:off x="841320" y="64008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6B0BC"/>
                </a:solidFill>
                <a:effectLst/>
                <a:uFillTx/>
                <a:latin typeface="Segoe UI"/>
              </a:rPr>
              <a:t>aws-iam-monitor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49" name="TextBox 27"/>
          <p:cNvSpPr/>
          <p:nvPr/>
        </p:nvSpPr>
        <p:spPr>
          <a:xfrm>
            <a:off x="10253160" y="64008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6B0BC"/>
                </a:solidFill>
                <a:effectLst/>
                <a:uFillTx/>
                <a:latin typeface="Segoe UI"/>
              </a:rPr>
              <a:t>05 /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Rectangle 2"/>
          <p:cNvSpPr/>
          <p:nvPr/>
        </p:nvSpPr>
        <p:spPr>
          <a:xfrm>
            <a:off x="841320" y="567000"/>
            <a:ext cx="310680" cy="82080"/>
          </a:xfrm>
          <a:prstGeom prst="rect">
            <a:avLst/>
          </a:prstGeom>
          <a:solidFill>
            <a:srgbClr val="D66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3"/>
          <p:cNvSpPr/>
          <p:nvPr/>
        </p:nvSpPr>
        <p:spPr>
          <a:xfrm>
            <a:off x="1298520" y="4572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RISK MODEL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53" name="TextBox 4"/>
          <p:cNvSpPr/>
          <p:nvPr/>
        </p:nvSpPr>
        <p:spPr>
          <a:xfrm>
            <a:off x="841320" y="841320"/>
            <a:ext cx="10508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1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Every IAM call gets a severity label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54" name="Rounded Rectangle 5"/>
          <p:cNvSpPr/>
          <p:nvPr/>
        </p:nvSpPr>
        <p:spPr>
          <a:xfrm>
            <a:off x="841320" y="2103120"/>
            <a:ext cx="10508760" cy="7495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Rounded Rectangle 6"/>
          <p:cNvSpPr/>
          <p:nvPr/>
        </p:nvSpPr>
        <p:spPr>
          <a:xfrm>
            <a:off x="841320" y="2103120"/>
            <a:ext cx="2102760" cy="749520"/>
          </a:xfrm>
          <a:prstGeom prst="roundRect">
            <a:avLst>
              <a:gd name="adj" fmla="val 16000"/>
            </a:avLst>
          </a:prstGeom>
          <a:solidFill>
            <a:srgbClr val="B326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7"/>
          <p:cNvSpPr/>
          <p:nvPr/>
        </p:nvSpPr>
        <p:spPr>
          <a:xfrm>
            <a:off x="841320" y="2103120"/>
            <a:ext cx="21027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CRITICAL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57" name="TextBox 8"/>
          <p:cNvSpPr/>
          <p:nvPr/>
        </p:nvSpPr>
        <p:spPr>
          <a:xfrm>
            <a:off x="3264480" y="2103120"/>
            <a:ext cx="78570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DeletePolicy · DeactivateMFADevice · access from a non-whitelisted IP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58" name="Rounded Rectangle 9"/>
          <p:cNvSpPr/>
          <p:nvPr/>
        </p:nvSpPr>
        <p:spPr>
          <a:xfrm>
            <a:off x="841320" y="3035880"/>
            <a:ext cx="10508760" cy="7495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Rounded Rectangle 10"/>
          <p:cNvSpPr/>
          <p:nvPr/>
        </p:nvSpPr>
        <p:spPr>
          <a:xfrm>
            <a:off x="841320" y="3035880"/>
            <a:ext cx="2102760" cy="749520"/>
          </a:xfrm>
          <a:prstGeom prst="roundRect">
            <a:avLst>
              <a:gd name="adj" fmla="val 16000"/>
            </a:avLst>
          </a:prstGeom>
          <a:solidFill>
            <a:srgbClr val="D66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Box 11"/>
          <p:cNvSpPr/>
          <p:nvPr/>
        </p:nvSpPr>
        <p:spPr>
          <a:xfrm>
            <a:off x="841320" y="3035880"/>
            <a:ext cx="21027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HIGH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61" name="TextBox 12"/>
          <p:cNvSpPr/>
          <p:nvPr/>
        </p:nvSpPr>
        <p:spPr>
          <a:xfrm>
            <a:off x="3264480" y="3035880"/>
            <a:ext cx="78570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CreateUser · CreateAccessKey · AttachUserPolicy · UpdateLoginProfile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62" name="Rounded Rectangle 13"/>
          <p:cNvSpPr/>
          <p:nvPr/>
        </p:nvSpPr>
        <p:spPr>
          <a:xfrm>
            <a:off x="841320" y="3968640"/>
            <a:ext cx="10508760" cy="7495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Rounded Rectangle 14"/>
          <p:cNvSpPr/>
          <p:nvPr/>
        </p:nvSpPr>
        <p:spPr>
          <a:xfrm>
            <a:off x="841320" y="3968640"/>
            <a:ext cx="2102760" cy="749520"/>
          </a:xfrm>
          <a:prstGeom prst="roundRect">
            <a:avLst>
              <a:gd name="adj" fmla="val 16000"/>
            </a:avLst>
          </a:prstGeom>
          <a:solidFill>
            <a:srgbClr val="C99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Box 15"/>
          <p:cNvSpPr/>
          <p:nvPr/>
        </p:nvSpPr>
        <p:spPr>
          <a:xfrm>
            <a:off x="841320" y="3968640"/>
            <a:ext cx="21027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MEDIUM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65" name="TextBox 16"/>
          <p:cNvSpPr/>
          <p:nvPr/>
        </p:nvSpPr>
        <p:spPr>
          <a:xfrm>
            <a:off x="3264480" y="3968640"/>
            <a:ext cx="78570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CreateRole · CreateGroup · CreatePolicy · SetDefaultPolicyVersion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66" name="Rounded Rectangle 17"/>
          <p:cNvSpPr/>
          <p:nvPr/>
        </p:nvSpPr>
        <p:spPr>
          <a:xfrm>
            <a:off x="841320" y="4901040"/>
            <a:ext cx="10508760" cy="7495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Rounded Rectangle 18"/>
          <p:cNvSpPr/>
          <p:nvPr/>
        </p:nvSpPr>
        <p:spPr>
          <a:xfrm>
            <a:off x="841320" y="4901040"/>
            <a:ext cx="2102760" cy="749520"/>
          </a:xfrm>
          <a:prstGeom prst="roundRect">
            <a:avLst>
              <a:gd name="adj" fmla="val 16000"/>
            </a:avLst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TextBox 19"/>
          <p:cNvSpPr/>
          <p:nvPr/>
        </p:nvSpPr>
        <p:spPr>
          <a:xfrm>
            <a:off x="841320" y="4901040"/>
            <a:ext cx="21027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LOW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69" name="TextBox 20"/>
          <p:cNvSpPr/>
          <p:nvPr/>
        </p:nvSpPr>
        <p:spPr>
          <a:xfrm>
            <a:off x="3264480" y="4901040"/>
            <a:ext cx="78570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GetUser · ListUsers — informational, archived only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70" name="TextBox 21"/>
          <p:cNvSpPr/>
          <p:nvPr/>
        </p:nvSpPr>
        <p:spPr>
          <a:xfrm>
            <a:off x="841320" y="5888880"/>
            <a:ext cx="10508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HIGH &amp; CRITICAL  →  immediate SNS e-mail alert.      All levels  →  JSON audit record in S3.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71" name="TextBox 22"/>
          <p:cNvSpPr/>
          <p:nvPr/>
        </p:nvSpPr>
        <p:spPr>
          <a:xfrm>
            <a:off x="841320" y="64008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6B0BC"/>
                </a:solidFill>
                <a:effectLst/>
                <a:uFillTx/>
                <a:latin typeface="Segoe UI"/>
              </a:rPr>
              <a:t>aws-iam-monitor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72" name="TextBox 23"/>
          <p:cNvSpPr/>
          <p:nvPr/>
        </p:nvSpPr>
        <p:spPr>
          <a:xfrm>
            <a:off x="10253160" y="64008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6B0BC"/>
                </a:solidFill>
                <a:effectLst/>
                <a:uFillTx/>
                <a:latin typeface="Segoe UI"/>
              </a:rPr>
              <a:t>06 /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Rectangle 2"/>
          <p:cNvSpPr/>
          <p:nvPr/>
        </p:nvSpPr>
        <p:spPr>
          <a:xfrm>
            <a:off x="841320" y="567000"/>
            <a:ext cx="310680" cy="82080"/>
          </a:xfrm>
          <a:prstGeom prst="rect">
            <a:avLst/>
          </a:prstGeom>
          <a:solidFill>
            <a:srgbClr val="D66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3"/>
          <p:cNvSpPr/>
          <p:nvPr/>
        </p:nvSpPr>
        <p:spPr>
          <a:xfrm>
            <a:off x="1298520" y="4572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DELIVERY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76" name="TextBox 4"/>
          <p:cNvSpPr/>
          <p:nvPr/>
        </p:nvSpPr>
        <p:spPr>
          <a:xfrm>
            <a:off x="841320" y="841320"/>
            <a:ext cx="1050876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1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Same architecture - pick your workflow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77" name="Rounded Rectangle 5"/>
          <p:cNvSpPr/>
          <p:nvPr/>
        </p:nvSpPr>
        <p:spPr>
          <a:xfrm>
            <a:off x="841320" y="2148840"/>
            <a:ext cx="5025600" cy="3382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Rounded Rectangle 6"/>
          <p:cNvSpPr/>
          <p:nvPr/>
        </p:nvSpPr>
        <p:spPr>
          <a:xfrm>
            <a:off x="841320" y="2148840"/>
            <a:ext cx="5025600" cy="658080"/>
          </a:xfrm>
          <a:prstGeom prst="roundRect">
            <a:avLst>
              <a:gd name="adj" fmla="val 4500"/>
            </a:avLst>
          </a:prstGeom>
          <a:solidFill>
            <a:srgbClr val="1432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Rectangle 7"/>
          <p:cNvSpPr/>
          <p:nvPr/>
        </p:nvSpPr>
        <p:spPr>
          <a:xfrm>
            <a:off x="841320" y="2477880"/>
            <a:ext cx="5025600" cy="328680"/>
          </a:xfrm>
          <a:prstGeom prst="rect">
            <a:avLst/>
          </a:prstGeom>
          <a:solidFill>
            <a:srgbClr val="1432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Box 8"/>
          <p:cNvSpPr/>
          <p:nvPr/>
        </p:nvSpPr>
        <p:spPr>
          <a:xfrm>
            <a:off x="841320" y="2148840"/>
            <a:ext cx="50256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Bash  /  AWS CLI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81" name="TextBox 9"/>
          <p:cNvSpPr/>
          <p:nvPr/>
        </p:nvSpPr>
        <p:spPr>
          <a:xfrm>
            <a:off x="1188720" y="3108960"/>
            <a:ext cx="4385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•   Single orchestrator:  ./awsctl --up all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82" name="TextBox 10"/>
          <p:cNvSpPr/>
          <p:nvPr/>
        </p:nvSpPr>
        <p:spPr>
          <a:xfrm>
            <a:off x="1188720" y="3675960"/>
            <a:ext cx="4385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•   Imperative, explicit 5-stage sequence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83" name="TextBox 11"/>
          <p:cNvSpPr/>
          <p:nvPr/>
        </p:nvSpPr>
        <p:spPr>
          <a:xfrm>
            <a:off x="1188720" y="4242960"/>
            <a:ext cx="4385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•   Idempotent scripts + shared helper library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84" name="TextBox 12"/>
          <p:cNvSpPr/>
          <p:nvPr/>
        </p:nvSpPr>
        <p:spPr>
          <a:xfrm>
            <a:off x="1188720" y="4809600"/>
            <a:ext cx="4385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•   Simple for small, targeted changes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85" name="Rounded Rectangle 13"/>
          <p:cNvSpPr/>
          <p:nvPr/>
        </p:nvSpPr>
        <p:spPr>
          <a:xfrm>
            <a:off x="6324480" y="2148840"/>
            <a:ext cx="5025600" cy="3382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Rounded Rectangle 14"/>
          <p:cNvSpPr/>
          <p:nvPr/>
        </p:nvSpPr>
        <p:spPr>
          <a:xfrm>
            <a:off x="6324480" y="2148840"/>
            <a:ext cx="5025600" cy="658080"/>
          </a:xfrm>
          <a:prstGeom prst="roundRect">
            <a:avLst>
              <a:gd name="adj" fmla="val 4500"/>
            </a:avLst>
          </a:prstGeom>
          <a:solidFill>
            <a:srgbClr val="D66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Rectangle 15"/>
          <p:cNvSpPr/>
          <p:nvPr/>
        </p:nvSpPr>
        <p:spPr>
          <a:xfrm>
            <a:off x="6324480" y="2477880"/>
            <a:ext cx="5025600" cy="328680"/>
          </a:xfrm>
          <a:prstGeom prst="rect">
            <a:avLst/>
          </a:prstGeom>
          <a:solidFill>
            <a:srgbClr val="D66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TextBox 16"/>
          <p:cNvSpPr/>
          <p:nvPr/>
        </p:nvSpPr>
        <p:spPr>
          <a:xfrm>
            <a:off x="6324480" y="2148840"/>
            <a:ext cx="50256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Terraform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89" name="TextBox 17"/>
          <p:cNvSpPr/>
          <p:nvPr/>
        </p:nvSpPr>
        <p:spPr>
          <a:xfrm>
            <a:off x="6671880" y="3108960"/>
            <a:ext cx="4385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•   One command:  terraform apply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90" name="TextBox 18"/>
          <p:cNvSpPr/>
          <p:nvPr/>
        </p:nvSpPr>
        <p:spPr>
          <a:xfrm>
            <a:off x="6671880" y="3675960"/>
            <a:ext cx="4385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•   Declarative, order from dependency graph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91" name="TextBox 19"/>
          <p:cNvSpPr/>
          <p:nvPr/>
        </p:nvSpPr>
        <p:spPr>
          <a:xfrm>
            <a:off x="6671880" y="4242960"/>
            <a:ext cx="4385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•   7 reusable modules, least-privilege IAM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92" name="TextBox 20"/>
          <p:cNvSpPr/>
          <p:nvPr/>
        </p:nvSpPr>
        <p:spPr>
          <a:xfrm>
            <a:off x="6671880" y="4809600"/>
            <a:ext cx="4385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•   Adds optional CloudWatch alarms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93" name="TextBox 21"/>
          <p:cNvSpPr/>
          <p:nvPr/>
        </p:nvSpPr>
        <p:spPr>
          <a:xfrm>
            <a:off x="841320" y="5788080"/>
            <a:ext cx="10508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Independent &amp; functionally equivalent — same resource names, same event pattern, same policies.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94" name="TextBox 22"/>
          <p:cNvSpPr/>
          <p:nvPr/>
        </p:nvSpPr>
        <p:spPr>
          <a:xfrm>
            <a:off x="841320" y="64008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6B0BC"/>
                </a:solidFill>
                <a:effectLst/>
                <a:uFillTx/>
                <a:latin typeface="Segoe UI"/>
              </a:rPr>
              <a:t>aws-iam-monitor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95" name="TextBox 23"/>
          <p:cNvSpPr/>
          <p:nvPr/>
        </p:nvSpPr>
        <p:spPr>
          <a:xfrm>
            <a:off x="10253160" y="64008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6B0BC"/>
                </a:solidFill>
                <a:effectLst/>
                <a:uFillTx/>
                <a:latin typeface="Segoe UI"/>
              </a:rPr>
              <a:t>07 /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Rectangle 2"/>
          <p:cNvSpPr/>
          <p:nvPr/>
        </p:nvSpPr>
        <p:spPr>
          <a:xfrm>
            <a:off x="841320" y="567000"/>
            <a:ext cx="310680" cy="82080"/>
          </a:xfrm>
          <a:prstGeom prst="rect">
            <a:avLst/>
          </a:prstGeom>
          <a:solidFill>
            <a:srgbClr val="D66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3"/>
          <p:cNvSpPr/>
          <p:nvPr/>
        </p:nvSpPr>
        <p:spPr>
          <a:xfrm>
            <a:off x="1298520" y="4572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PROJECT COST  ·  CALCULATOR.AWS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99" name="TextBox 4"/>
          <p:cNvSpPr/>
          <p:nvPr/>
        </p:nvSpPr>
        <p:spPr>
          <a:xfrm>
            <a:off x="841320" y="841320"/>
            <a:ext cx="10508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1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A few dollars a month, at standard rates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00" name="Rounded Rectangle 5"/>
          <p:cNvSpPr/>
          <p:nvPr/>
        </p:nvSpPr>
        <p:spPr>
          <a:xfrm>
            <a:off x="841320" y="1965960"/>
            <a:ext cx="7040520" cy="420120"/>
          </a:xfrm>
          <a:prstGeom prst="roundRect">
            <a:avLst>
              <a:gd name="adj" fmla="val 12000"/>
            </a:avLst>
          </a:prstGeom>
          <a:solidFill>
            <a:srgbClr val="1432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Box 6"/>
          <p:cNvSpPr/>
          <p:nvPr/>
        </p:nvSpPr>
        <p:spPr>
          <a:xfrm>
            <a:off x="1115640" y="1965960"/>
            <a:ext cx="43887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AWS service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02" name="TextBox 7"/>
          <p:cNvSpPr/>
          <p:nvPr/>
        </p:nvSpPr>
        <p:spPr>
          <a:xfrm>
            <a:off x="6053400" y="196596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Est. / month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03" name="Rectangle 8"/>
          <p:cNvSpPr/>
          <p:nvPr/>
        </p:nvSpPr>
        <p:spPr>
          <a:xfrm>
            <a:off x="841320" y="2386440"/>
            <a:ext cx="7040520" cy="42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Box 9"/>
          <p:cNvSpPr/>
          <p:nvPr/>
        </p:nvSpPr>
        <p:spPr>
          <a:xfrm>
            <a:off x="1115640" y="2386440"/>
            <a:ext cx="51202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CloudTrail — 50k IAM management events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05" name="TextBox 10"/>
          <p:cNvSpPr/>
          <p:nvPr/>
        </p:nvSpPr>
        <p:spPr>
          <a:xfrm>
            <a:off x="6053400" y="238644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$1.00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06" name="Rectangle 11"/>
          <p:cNvSpPr/>
          <p:nvPr/>
        </p:nvSpPr>
        <p:spPr>
          <a:xfrm>
            <a:off x="841320" y="2807280"/>
            <a:ext cx="7040520" cy="420120"/>
          </a:xfrm>
          <a:prstGeom prst="rect">
            <a:avLst/>
          </a:prstGeom>
          <a:solidFill>
            <a:srgbClr val="EAF0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12"/>
          <p:cNvSpPr/>
          <p:nvPr/>
        </p:nvSpPr>
        <p:spPr>
          <a:xfrm>
            <a:off x="1115640" y="2807280"/>
            <a:ext cx="51202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EventBridge — AWS events, default bus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08" name="TextBox 13"/>
          <p:cNvSpPr/>
          <p:nvPr/>
        </p:nvSpPr>
        <p:spPr>
          <a:xfrm>
            <a:off x="6053400" y="280728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$0.00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09" name="Rectangle 14"/>
          <p:cNvSpPr/>
          <p:nvPr/>
        </p:nvSpPr>
        <p:spPr>
          <a:xfrm>
            <a:off x="841320" y="3227760"/>
            <a:ext cx="7040520" cy="42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TextBox 15"/>
          <p:cNvSpPr/>
          <p:nvPr/>
        </p:nvSpPr>
        <p:spPr>
          <a:xfrm>
            <a:off x="1115640" y="3227760"/>
            <a:ext cx="51202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Lambda — ~50k calls · 128 MB · ~400 ms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11" name="TextBox 16"/>
          <p:cNvSpPr/>
          <p:nvPr/>
        </p:nvSpPr>
        <p:spPr>
          <a:xfrm>
            <a:off x="6053400" y="322776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$0.05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12" name="Rectangle 17"/>
          <p:cNvSpPr/>
          <p:nvPr/>
        </p:nvSpPr>
        <p:spPr>
          <a:xfrm>
            <a:off x="841320" y="3648600"/>
            <a:ext cx="7040520" cy="420120"/>
          </a:xfrm>
          <a:prstGeom prst="rect">
            <a:avLst/>
          </a:prstGeom>
          <a:solidFill>
            <a:srgbClr val="EAF0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TextBox 18"/>
          <p:cNvSpPr/>
          <p:nvPr/>
        </p:nvSpPr>
        <p:spPr>
          <a:xfrm>
            <a:off x="1115640" y="3648600"/>
            <a:ext cx="51202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SNS — 50k publishes + ~500 e-mail alerts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14" name="TextBox 19"/>
          <p:cNvSpPr/>
          <p:nvPr/>
        </p:nvSpPr>
        <p:spPr>
          <a:xfrm>
            <a:off x="6053400" y="364860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$0.04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15" name="Rectangle 20"/>
          <p:cNvSpPr/>
          <p:nvPr/>
        </p:nvSpPr>
        <p:spPr>
          <a:xfrm>
            <a:off x="841320" y="4069080"/>
            <a:ext cx="7040520" cy="42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Box 21"/>
          <p:cNvSpPr/>
          <p:nvPr/>
        </p:nvSpPr>
        <p:spPr>
          <a:xfrm>
            <a:off x="1115640" y="4069080"/>
            <a:ext cx="51202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S3 — ~10 GB storage · ~55k PUT + GET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17" name="TextBox 22"/>
          <p:cNvSpPr/>
          <p:nvPr/>
        </p:nvSpPr>
        <p:spPr>
          <a:xfrm>
            <a:off x="6053400" y="406908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$0.51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18" name="Rectangle 23"/>
          <p:cNvSpPr/>
          <p:nvPr/>
        </p:nvSpPr>
        <p:spPr>
          <a:xfrm>
            <a:off x="841320" y="4489560"/>
            <a:ext cx="7040520" cy="420120"/>
          </a:xfrm>
          <a:prstGeom prst="rect">
            <a:avLst/>
          </a:prstGeom>
          <a:solidFill>
            <a:srgbClr val="EAF0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Box 24"/>
          <p:cNvSpPr/>
          <p:nvPr/>
        </p:nvSpPr>
        <p:spPr>
          <a:xfrm>
            <a:off x="1115640" y="4489560"/>
            <a:ext cx="51202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CloudWatch — 3 metrics · 2 alarms · 50k puts · logs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20" name="TextBox 25"/>
          <p:cNvSpPr/>
          <p:nvPr/>
        </p:nvSpPr>
        <p:spPr>
          <a:xfrm>
            <a:off x="6053400" y="448956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$2.13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21" name="Rectangle 26"/>
          <p:cNvSpPr/>
          <p:nvPr/>
        </p:nvSpPr>
        <p:spPr>
          <a:xfrm>
            <a:off x="841320" y="4910400"/>
            <a:ext cx="7040520" cy="42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TextBox 27"/>
          <p:cNvSpPr/>
          <p:nvPr/>
        </p:nvSpPr>
        <p:spPr>
          <a:xfrm>
            <a:off x="1115640" y="4910400"/>
            <a:ext cx="51202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Data transfer — intra-region / minimal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23" name="TextBox 28"/>
          <p:cNvSpPr/>
          <p:nvPr/>
        </p:nvSpPr>
        <p:spPr>
          <a:xfrm>
            <a:off x="6053400" y="491040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$0.09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24" name="Rectangle 29"/>
          <p:cNvSpPr/>
          <p:nvPr/>
        </p:nvSpPr>
        <p:spPr>
          <a:xfrm>
            <a:off x="841320" y="5330880"/>
            <a:ext cx="7040520" cy="420120"/>
          </a:xfrm>
          <a:prstGeom prst="rect">
            <a:avLst/>
          </a:prstGeom>
          <a:solidFill>
            <a:srgbClr val="DDE6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TextBox 30"/>
          <p:cNvSpPr/>
          <p:nvPr/>
        </p:nvSpPr>
        <p:spPr>
          <a:xfrm>
            <a:off x="1115640" y="5330880"/>
            <a:ext cx="43887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Estimated total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26" name="TextBox 31"/>
          <p:cNvSpPr/>
          <p:nvPr/>
        </p:nvSpPr>
        <p:spPr>
          <a:xfrm>
            <a:off x="6053400" y="533088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≈ $3.82 / mo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27" name="Rounded Rectangle 32"/>
          <p:cNvSpPr/>
          <p:nvPr/>
        </p:nvSpPr>
        <p:spPr>
          <a:xfrm>
            <a:off x="8339400" y="1965960"/>
            <a:ext cx="3010680" cy="1554120"/>
          </a:xfrm>
          <a:prstGeom prst="roundRect">
            <a:avLst>
              <a:gd name="adj" fmla="val 10000"/>
            </a:avLst>
          </a:prstGeom>
          <a:solidFill>
            <a:srgbClr val="1432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TextBox 33"/>
          <p:cNvSpPr/>
          <p:nvPr/>
        </p:nvSpPr>
        <p:spPr>
          <a:xfrm>
            <a:off x="8339400" y="2112120"/>
            <a:ext cx="3010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≈ $4</a:t>
            </a:r>
            <a:endParaRPr lang="en-US" sz="4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29" name="TextBox 34"/>
          <p:cNvSpPr/>
          <p:nvPr/>
        </p:nvSpPr>
        <p:spPr>
          <a:xfrm>
            <a:off x="8339400" y="2990160"/>
            <a:ext cx="3010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B8C6D6"/>
                </a:solidFill>
                <a:effectLst/>
                <a:uFillTx/>
                <a:latin typeface="Segoe UI"/>
              </a:rPr>
              <a:t>per month   (~$46 / year)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30" name="Rounded Rectangle 35"/>
          <p:cNvSpPr/>
          <p:nvPr/>
        </p:nvSpPr>
        <p:spPr>
          <a:xfrm>
            <a:off x="8339400" y="3749040"/>
            <a:ext cx="3010680" cy="603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Rectangle 36"/>
          <p:cNvSpPr/>
          <p:nvPr/>
        </p:nvSpPr>
        <p:spPr>
          <a:xfrm>
            <a:off x="8357760" y="3867840"/>
            <a:ext cx="54360" cy="36540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TextBox 37"/>
          <p:cNvSpPr/>
          <p:nvPr/>
        </p:nvSpPr>
        <p:spPr>
          <a:xfrm>
            <a:off x="8558640" y="3749040"/>
            <a:ext cx="12798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Light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33" name="TextBox 38"/>
          <p:cNvSpPr/>
          <p:nvPr/>
        </p:nvSpPr>
        <p:spPr>
          <a:xfrm>
            <a:off x="9665280" y="3749040"/>
            <a:ext cx="9140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5k / mo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34" name="TextBox 39"/>
          <p:cNvSpPr/>
          <p:nvPr/>
        </p:nvSpPr>
        <p:spPr>
          <a:xfrm>
            <a:off x="10436040" y="3749040"/>
            <a:ext cx="7768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≈ $2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35" name="Rounded Rectangle 40"/>
          <p:cNvSpPr/>
          <p:nvPr/>
        </p:nvSpPr>
        <p:spPr>
          <a:xfrm>
            <a:off x="8339400" y="4462200"/>
            <a:ext cx="3010680" cy="603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6" name="Rectangle 41"/>
          <p:cNvSpPr/>
          <p:nvPr/>
        </p:nvSpPr>
        <p:spPr>
          <a:xfrm>
            <a:off x="8357760" y="4581000"/>
            <a:ext cx="54360" cy="365400"/>
          </a:xfrm>
          <a:prstGeom prst="rect">
            <a:avLst/>
          </a:prstGeom>
          <a:solidFill>
            <a:srgbClr val="D66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7" name="TextBox 42"/>
          <p:cNvSpPr/>
          <p:nvPr/>
        </p:nvSpPr>
        <p:spPr>
          <a:xfrm>
            <a:off x="8558640" y="4462200"/>
            <a:ext cx="12798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Moderate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38" name="TextBox 43"/>
          <p:cNvSpPr/>
          <p:nvPr/>
        </p:nvSpPr>
        <p:spPr>
          <a:xfrm>
            <a:off x="9665280" y="4462200"/>
            <a:ext cx="9140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50k / mo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39" name="TextBox 44"/>
          <p:cNvSpPr/>
          <p:nvPr/>
        </p:nvSpPr>
        <p:spPr>
          <a:xfrm>
            <a:off x="10436040" y="4462200"/>
            <a:ext cx="7768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≈ $4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40" name="Rounded Rectangle 45"/>
          <p:cNvSpPr/>
          <p:nvPr/>
        </p:nvSpPr>
        <p:spPr>
          <a:xfrm>
            <a:off x="8339400" y="5175360"/>
            <a:ext cx="3010680" cy="603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Rectangle 46"/>
          <p:cNvSpPr/>
          <p:nvPr/>
        </p:nvSpPr>
        <p:spPr>
          <a:xfrm>
            <a:off x="8357760" y="5294520"/>
            <a:ext cx="54360" cy="365400"/>
          </a:xfrm>
          <a:prstGeom prst="rect">
            <a:avLst/>
          </a:prstGeom>
          <a:solidFill>
            <a:srgbClr val="B326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TextBox 47"/>
          <p:cNvSpPr/>
          <p:nvPr/>
        </p:nvSpPr>
        <p:spPr>
          <a:xfrm>
            <a:off x="8558640" y="5175360"/>
            <a:ext cx="12798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Heavy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43" name="TextBox 48"/>
          <p:cNvSpPr/>
          <p:nvPr/>
        </p:nvSpPr>
        <p:spPr>
          <a:xfrm>
            <a:off x="9665280" y="5175360"/>
            <a:ext cx="9140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500k / mo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44" name="TextBox 49"/>
          <p:cNvSpPr/>
          <p:nvPr/>
        </p:nvSpPr>
        <p:spPr>
          <a:xfrm>
            <a:off x="10436040" y="5175360"/>
            <a:ext cx="7768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≈ $24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45" name="TextBox 50"/>
          <p:cNvSpPr/>
          <p:nvPr/>
        </p:nvSpPr>
        <p:spPr>
          <a:xfrm>
            <a:off x="841320" y="6108120"/>
            <a:ext cx="1050876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Modeled with the AWS Pricing Calculator (calculator.aws)  ·  Region: US East (N. Virginia)  ·  Standard on-demand rates, AWS Free Tier not applied.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46" name="TextBox 51"/>
          <p:cNvSpPr/>
          <p:nvPr/>
        </p:nvSpPr>
        <p:spPr>
          <a:xfrm>
            <a:off x="841320" y="64008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6B0BC"/>
                </a:solidFill>
                <a:effectLst/>
                <a:uFillTx/>
                <a:latin typeface="Segoe UI"/>
              </a:rPr>
              <a:t>aws-iam-monitor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47" name="TextBox 52"/>
          <p:cNvSpPr/>
          <p:nvPr/>
        </p:nvSpPr>
        <p:spPr>
          <a:xfrm>
            <a:off x="10253160" y="64008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6B0BC"/>
                </a:solidFill>
                <a:effectLst/>
                <a:uFillTx/>
                <a:latin typeface="Segoe UI"/>
              </a:rPr>
              <a:t>08 /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9" name="Rectangle 2"/>
          <p:cNvSpPr/>
          <p:nvPr/>
        </p:nvSpPr>
        <p:spPr>
          <a:xfrm>
            <a:off x="841320" y="567000"/>
            <a:ext cx="310680" cy="82080"/>
          </a:xfrm>
          <a:prstGeom prst="rect">
            <a:avLst/>
          </a:prstGeom>
          <a:solidFill>
            <a:srgbClr val="D66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0" name="TextBox 3"/>
          <p:cNvSpPr/>
          <p:nvPr/>
        </p:nvSpPr>
        <p:spPr>
          <a:xfrm>
            <a:off x="1298520" y="4572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RESULTS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51" name="TextBox 4"/>
          <p:cNvSpPr/>
          <p:nvPr/>
        </p:nvSpPr>
        <p:spPr>
          <a:xfrm>
            <a:off x="841320" y="841320"/>
            <a:ext cx="10508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1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Validated end to end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52" name="Rounded Rectangle 5"/>
          <p:cNvSpPr/>
          <p:nvPr/>
        </p:nvSpPr>
        <p:spPr>
          <a:xfrm>
            <a:off x="841320" y="2103120"/>
            <a:ext cx="6309000" cy="6580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Oval 6"/>
          <p:cNvSpPr/>
          <p:nvPr/>
        </p:nvSpPr>
        <p:spPr>
          <a:xfrm>
            <a:off x="1024200" y="2249280"/>
            <a:ext cx="365400" cy="365400"/>
          </a:xfrm>
          <a:prstGeom prst="ellipse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TextBox 7"/>
          <p:cNvSpPr/>
          <p:nvPr/>
        </p:nvSpPr>
        <p:spPr>
          <a:xfrm>
            <a:off x="1024200" y="224028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✓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55" name="TextBox 8"/>
          <p:cNvSpPr/>
          <p:nvPr/>
        </p:nvSpPr>
        <p:spPr>
          <a:xfrm>
            <a:off x="1572840" y="2103120"/>
            <a:ext cx="53946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Full deploy → verify → destroy cycle passed on both implementations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56" name="Rounded Rectangle 9"/>
          <p:cNvSpPr/>
          <p:nvPr/>
        </p:nvSpPr>
        <p:spPr>
          <a:xfrm>
            <a:off x="841320" y="2889360"/>
            <a:ext cx="6309000" cy="6580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Oval 10"/>
          <p:cNvSpPr/>
          <p:nvPr/>
        </p:nvSpPr>
        <p:spPr>
          <a:xfrm>
            <a:off x="1024200" y="3035880"/>
            <a:ext cx="365400" cy="365400"/>
          </a:xfrm>
          <a:prstGeom prst="ellipse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8" name="TextBox 11"/>
          <p:cNvSpPr/>
          <p:nvPr/>
        </p:nvSpPr>
        <p:spPr>
          <a:xfrm>
            <a:off x="1024200" y="30265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✓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59" name="TextBox 12"/>
          <p:cNvSpPr/>
          <p:nvPr/>
        </p:nvSpPr>
        <p:spPr>
          <a:xfrm>
            <a:off x="1572840" y="2889360"/>
            <a:ext cx="53946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High-risk IAM events deliver SNS e-mail alerts within seconds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60" name="Rounded Rectangle 13"/>
          <p:cNvSpPr/>
          <p:nvPr/>
        </p:nvSpPr>
        <p:spPr>
          <a:xfrm>
            <a:off x="841320" y="3675960"/>
            <a:ext cx="6309000" cy="6580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Oval 14"/>
          <p:cNvSpPr/>
          <p:nvPr/>
        </p:nvSpPr>
        <p:spPr>
          <a:xfrm>
            <a:off x="1024200" y="3822120"/>
            <a:ext cx="365400" cy="365400"/>
          </a:xfrm>
          <a:prstGeom prst="ellipse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2" name="TextBox 15"/>
          <p:cNvSpPr/>
          <p:nvPr/>
        </p:nvSpPr>
        <p:spPr>
          <a:xfrm>
            <a:off x="1024200" y="38131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✓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63" name="TextBox 16"/>
          <p:cNvSpPr/>
          <p:nvPr/>
        </p:nvSpPr>
        <p:spPr>
          <a:xfrm>
            <a:off x="1572840" y="3675960"/>
            <a:ext cx="53946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Every event archived as structured JSON in S3, partitioned by date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64" name="Rounded Rectangle 17"/>
          <p:cNvSpPr/>
          <p:nvPr/>
        </p:nvSpPr>
        <p:spPr>
          <a:xfrm>
            <a:off x="841320" y="4462200"/>
            <a:ext cx="6309000" cy="6580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5" name="Oval 18"/>
          <p:cNvSpPr/>
          <p:nvPr/>
        </p:nvSpPr>
        <p:spPr>
          <a:xfrm>
            <a:off x="1024200" y="4608720"/>
            <a:ext cx="365400" cy="365400"/>
          </a:xfrm>
          <a:prstGeom prst="ellipse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6" name="TextBox 19"/>
          <p:cNvSpPr/>
          <p:nvPr/>
        </p:nvSpPr>
        <p:spPr>
          <a:xfrm>
            <a:off x="1024200" y="459936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✓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67" name="TextBox 20"/>
          <p:cNvSpPr/>
          <p:nvPr/>
        </p:nvSpPr>
        <p:spPr>
          <a:xfrm>
            <a:off x="1572840" y="4462200"/>
            <a:ext cx="53946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Custom AWSIAMMonitor metrics + alarms on unauthorized-IP access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68" name="Rounded Rectangle 21"/>
          <p:cNvSpPr/>
          <p:nvPr/>
        </p:nvSpPr>
        <p:spPr>
          <a:xfrm>
            <a:off x="7470720" y="2011680"/>
            <a:ext cx="3611520" cy="3291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69" name="Picture 22" descr="hight-risk-aws-iam-security-alert-create-user.png"/>
          <p:cNvPicPr/>
          <p:nvPr/>
        </p:nvPicPr>
        <p:blipFill>
          <a:blip r:embed="rId1"/>
          <a:stretch/>
        </p:blipFill>
        <p:spPr>
          <a:xfrm>
            <a:off x="7562160" y="2103120"/>
            <a:ext cx="3424680" cy="310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0" name="TextBox 23"/>
          <p:cNvSpPr/>
          <p:nvPr/>
        </p:nvSpPr>
        <p:spPr>
          <a:xfrm>
            <a:off x="7470720" y="5358240"/>
            <a:ext cx="36115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SNS alert - CreateUser flagged HIGH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71" name="TextBox 24"/>
          <p:cNvSpPr/>
          <p:nvPr/>
        </p:nvSpPr>
        <p:spPr>
          <a:xfrm>
            <a:off x="841320" y="64008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6B0BC"/>
                </a:solidFill>
                <a:effectLst/>
                <a:uFillTx/>
                <a:latin typeface="Segoe UI"/>
              </a:rPr>
              <a:t>aws-iam-monitor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72" name="TextBox 25"/>
          <p:cNvSpPr/>
          <p:nvPr/>
        </p:nvSpPr>
        <p:spPr>
          <a:xfrm>
            <a:off x="10253160" y="64008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6B0BC"/>
                </a:solidFill>
                <a:effectLst/>
                <a:uFillTx/>
                <a:latin typeface="Segoe UI"/>
              </a:rPr>
              <a:t>09 /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E24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4" name="Rectangle 2"/>
          <p:cNvSpPr/>
          <p:nvPr/>
        </p:nvSpPr>
        <p:spPr>
          <a:xfrm>
            <a:off x="0" y="0"/>
            <a:ext cx="12191400" cy="145800"/>
          </a:xfrm>
          <a:prstGeom prst="rect">
            <a:avLst/>
          </a:prstGeom>
          <a:solidFill>
            <a:srgbClr val="D66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75" name="Picture 3" descr="_icon_t.png"/>
          <p:cNvPicPr/>
          <p:nvPr/>
        </p:nvPicPr>
        <p:blipFill>
          <a:blip r:embed="rId1"/>
          <a:stretch/>
        </p:blipFill>
        <p:spPr>
          <a:xfrm>
            <a:off x="5181480" y="960120"/>
            <a:ext cx="1903320" cy="178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6" name="TextBox 4"/>
          <p:cNvSpPr/>
          <p:nvPr/>
        </p:nvSpPr>
        <p:spPr>
          <a:xfrm>
            <a:off x="841320" y="3063240"/>
            <a:ext cx="10508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Thank you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77" name="TextBox 5"/>
          <p:cNvSpPr/>
          <p:nvPr/>
        </p:nvSpPr>
        <p:spPr>
          <a:xfrm>
            <a:off x="841320" y="3931920"/>
            <a:ext cx="10508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B8C6D6"/>
                </a:solidFill>
                <a:effectLst/>
                <a:uFillTx/>
                <a:latin typeface="Segoe UI"/>
              </a:rPr>
              <a:t>Detect  ·  classify  ·  alert - before misconfiguration becomes a breach.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78" name="Rounded Rectangle 6"/>
          <p:cNvSpPr/>
          <p:nvPr/>
        </p:nvSpPr>
        <p:spPr>
          <a:xfrm>
            <a:off x="2712600" y="4709160"/>
            <a:ext cx="6766200" cy="731160"/>
          </a:xfrm>
          <a:prstGeom prst="roundRect">
            <a:avLst>
              <a:gd name="adj" fmla="val 22000"/>
            </a:avLst>
          </a:prstGeom>
          <a:solidFill>
            <a:srgbClr val="1432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9" name="TextBox 7"/>
          <p:cNvSpPr/>
          <p:nvPr/>
        </p:nvSpPr>
        <p:spPr>
          <a:xfrm>
            <a:off x="2712600" y="4709160"/>
            <a:ext cx="6766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github.com/ZouariOmar/aws-iam-monitor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80" name="Rounded Rectangle 8"/>
          <p:cNvSpPr/>
          <p:nvPr/>
        </p:nvSpPr>
        <p:spPr>
          <a:xfrm>
            <a:off x="4572000" y="5614920"/>
            <a:ext cx="3200400" cy="7858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81" name=""/>
          <p:cNvPicPr/>
          <p:nvPr/>
        </p:nvPicPr>
        <p:blipFill>
          <a:blip r:embed="rId2"/>
          <a:stretch/>
        </p:blipFill>
        <p:spPr>
          <a:xfrm>
            <a:off x="4800600" y="5803200"/>
            <a:ext cx="1151640" cy="42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2" name=""/>
          <p:cNvPicPr/>
          <p:nvPr/>
        </p:nvPicPr>
        <p:blipFill>
          <a:blip r:embed="rId3"/>
          <a:stretch/>
        </p:blipFill>
        <p:spPr>
          <a:xfrm>
            <a:off x="6071400" y="5803200"/>
            <a:ext cx="1472400" cy="457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LibreOffice/26.2.5.2$Linux_X86_64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2026-08-28T15:49:14Z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